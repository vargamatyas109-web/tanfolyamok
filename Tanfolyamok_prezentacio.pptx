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00" y="1200000"/>
            <a:ext cx="10900000" cy="1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"/>
              </a:rPr>
              <a:t>Tanfolyamok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400000"/>
            <a:ext cx="109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Segoe UI"/>
              </a:rPr>
              <a:t>Tanfolyam-kezelő webalkalmazás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3500000"/>
            <a:ext cx="10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Segoe UI"/>
              </a:rPr>
              <a:t>Pogány Frigyes Technikum  |  Budapest,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200000"/>
            <a:ext cx="10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Segoe UI"/>
              </a:rPr>
              <a:t>Andorfer Vendel  |  Babai Máté  |  Varga Mátyás</a:t>
            </a: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28B012F2-F9FF-46A7-9712-5ED40C3D456A}"/>
              </a:ext>
            </a:extLst>
          </p:cNvPr>
          <p:cNvSpPr/>
          <p:nvPr/>
        </p:nvSpPr>
        <p:spPr>
          <a:xfrm>
            <a:off x="3962399" y="4503600"/>
            <a:ext cx="1488142" cy="7061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57493A57-3403-462E-B233-141DDBC288FF}"/>
              </a:ext>
            </a:extLst>
          </p:cNvPr>
          <p:cNvSpPr/>
          <p:nvPr/>
        </p:nvSpPr>
        <p:spPr>
          <a:xfrm>
            <a:off x="5713484" y="4503600"/>
            <a:ext cx="1027977" cy="88541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A79E2EBF-E774-4ED5-A535-4EB447017B4B}"/>
              </a:ext>
            </a:extLst>
          </p:cNvPr>
          <p:cNvSpPr/>
          <p:nvPr/>
        </p:nvSpPr>
        <p:spPr>
          <a:xfrm>
            <a:off x="7004405" y="4494635"/>
            <a:ext cx="1203996" cy="88541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Tartalom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1.  Miről szól a projekt?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2.  Milyen eszközökkel készült?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3.  Hogyan épül fel?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4.  Hogyan tárolja az adatokat?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5.  Mit lát a látogató?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6.  Mit lát az admin?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7.  Hogyan kommunikál a felület a szerverrel?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8.  Hogyan védett a rendszer?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9.  Hogyan teszteltük?</a:t>
            </a:r>
          </a:p>
          <a:p>
            <a:pPr algn="l"/>
            <a:r>
              <a:rPr sz="1800" b="0">
                <a:solidFill>
                  <a:srgbClr val="1F2937"/>
                </a:solidFill>
                <a:latin typeface="Segoe UI"/>
              </a:rPr>
              <a:t>10. Hogyan kell elindítani?</a:t>
            </a:r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5CBB1B44-7C31-432E-A89C-C69394CB51E3}"/>
              </a:ext>
            </a:extLst>
          </p:cNvPr>
          <p:cNvSpPr/>
          <p:nvPr/>
        </p:nvSpPr>
        <p:spPr>
          <a:xfrm>
            <a:off x="1" y="6750800"/>
            <a:ext cx="12192000" cy="8876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3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1. Miről szól a projekt?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Segoe UI"/>
              </a:rPr>
              <a:t>Miért és kinek készült ez az alkalmazás?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4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 projekt háttere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1F2937"/>
                </a:solidFill>
                <a:latin typeface="Segoe UI"/>
              </a:rPr>
              <a:t>Iskola: BKSZC Pogány Frigyes Technikum (Budapest)</a:t>
            </a:r>
          </a:p>
          <a:p>
            <a:pPr algn="l"/>
            <a:endParaRPr sz="1600" b="1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Az iskola esti és hétvégi digitális képzéseket kínál felnőtteknek.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 jelentkezések korábban papír alapon történtek.</a:t>
            </a:r>
          </a:p>
          <a:p>
            <a:pPr algn="l"/>
            <a:endParaRPr sz="16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 cél: egy weboldal ahol az érdeklődők megtalálják a tanfolyamokat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és online tudnak jelentkezni - az adminisztrátor pedig tudja kezelni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a csoportokat és a jelentkezők adatait.</a:t>
            </a:r>
          </a:p>
          <a:p>
            <a:pPr algn="l"/>
            <a:endParaRPr sz="16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0">
                <a:solidFill>
                  <a:srgbClr val="6B7280"/>
                </a:solidFill>
                <a:latin typeface="Segoe UI"/>
              </a:rPr>
              <a:t>3 fős csapat, iskolai projektmunka, 2026-os tanév</a:t>
            </a: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941E0FA4-21F5-4B18-BC5A-FB95E20F947D}"/>
              </a:ext>
            </a:extLst>
          </p:cNvPr>
          <p:cNvSpPr/>
          <p:nvPr/>
        </p:nvSpPr>
        <p:spPr>
          <a:xfrm>
            <a:off x="1" y="6750800"/>
            <a:ext cx="12192000" cy="8876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5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 három elérhető képzés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0000"/>
            <a:ext cx="3500000" cy="4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Teljesen nulláról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40 óra</a:t>
            </a:r>
          </a:p>
          <a:p>
            <a:pPr algn="l"/>
            <a:endParaRPr sz="14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Alapok: számítógép, internet, e-mail, jelszavak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57200" y="1200000"/>
            <a:ext cx="3500000" cy="4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Mindennapi internethasználat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40 óra</a:t>
            </a:r>
          </a:p>
          <a:p>
            <a:pPr algn="l"/>
            <a:endParaRPr sz="14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Telefon és laptop együtt, fájlok, alkalmazások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57200" y="1200000"/>
            <a:ext cx="3500000" cy="4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Tudatos és biztonságos internet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80 óra</a:t>
            </a:r>
          </a:p>
          <a:p>
            <a:pPr algn="l"/>
            <a:endParaRPr sz="14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Átverések, adatvédelem, kétlépéses azonosítás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00000"/>
            <a:ext cx="110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Mindhárom képzésből több csoport is indulhat, különböző időpontokban és helyszíneken.</a:t>
            </a:r>
          </a:p>
        </p:txBody>
      </p:sp>
      <p:sp>
        <p:nvSpPr>
          <p:cNvPr id="9" name="Téglalap 8">
            <a:extLst>
              <a:ext uri="{FF2B5EF4-FFF2-40B4-BE49-F238E27FC236}">
                <a16:creationId xmlns:a16="http://schemas.microsoft.com/office/drawing/2014/main" id="{A7E1E8D9-CD2B-4FC6-8F04-E3D1EBC1D941}"/>
              </a:ext>
            </a:extLst>
          </p:cNvPr>
          <p:cNvSpPr/>
          <p:nvPr/>
        </p:nvSpPr>
        <p:spPr>
          <a:xfrm>
            <a:off x="1" y="6750800"/>
            <a:ext cx="12192000" cy="8876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6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2. Milyen eszközökkel készült?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7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Használt eszközök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Szerver oldal (a háttérben dolgozik)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Node.js - Futtatja a szerver kódot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Express.js - Fogadja a kéréseket, küldi a válaszokat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SQLite - Tárolja az adatokat (1 fájl)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bcrypt - Jelszót titkosít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JWT - Belépés igazolvány (token)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dotenv - Titkos adatok külön fájlban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Felület (amit a felhasználó lát)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HTML - Az oldal szerkezete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CSS - Az oldal kinézete, színek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JavaScript - Az oldal működése, gombok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Bootstrap 5 - Reszponzív design (telefonon is jó)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Fetch API - Adatok lekérése a szerverről</a:t>
            </a:r>
          </a:p>
        </p:txBody>
      </p:sp>
      <p:sp>
        <p:nvSpPr>
          <p:cNvPr id="11" name="Téglalap 10">
            <a:extLst>
              <a:ext uri="{FF2B5EF4-FFF2-40B4-BE49-F238E27FC236}">
                <a16:creationId xmlns:a16="http://schemas.microsoft.com/office/drawing/2014/main" id="{8764E505-AED4-4723-A9FC-527155E92D82}"/>
              </a:ext>
            </a:extLst>
          </p:cNvPr>
          <p:cNvSpPr/>
          <p:nvPr/>
        </p:nvSpPr>
        <p:spPr>
          <a:xfrm>
            <a:off x="0" y="6750800"/>
            <a:ext cx="12192000" cy="107199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3. Hogyan épül fel?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Az alkalmazás 3 részből áll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200000"/>
            <a:ext cx="3400000" cy="2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99"/>
                </a:solidFill>
                <a:latin typeface="Segoe UI"/>
              </a:rPr>
              <a:t>Weboldal (böngésző)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HTML + CSS + JS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Ezt látja a felhasználó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Böngészőbe töltődik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000" y="1200000"/>
            <a:ext cx="3400000" cy="2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99"/>
                </a:solidFill>
                <a:latin typeface="Segoe UI"/>
              </a:rPr>
              <a:t>Szerver (Node.js)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Express.js / app.js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Kérelmeket fogad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Válaszokat küld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0" y="1200000"/>
            <a:ext cx="3400000" cy="2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333399"/>
                </a:solidFill>
                <a:latin typeface="Segoe UI"/>
              </a:rPr>
              <a:t>Adatbázis (SQLite)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tanfolyamok.db fájl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3 tábla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Segoe UI"/>
              </a:rPr>
              <a:t>Minden adat itt van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00000" y="2200000"/>
            <a:ext cx="5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333399"/>
                </a:solidFill>
                <a:latin typeface="Segoe UI"/>
              </a:rPr>
              <a:t>--&gt;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0000" y="2200000"/>
            <a:ext cx="5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333399"/>
                </a:solidFill>
                <a:latin typeface="Segoe UI"/>
              </a:rPr>
              <a:t>--&gt;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87671"/>
            <a:ext cx="10093276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dirty="0">
                <a:solidFill>
                  <a:srgbClr val="6B7280"/>
                </a:solidFill>
                <a:latin typeface="Segoe UI"/>
              </a:rPr>
              <a:t>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felhasználó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böngészőjében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nyitja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meg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az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oldalt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. </a:t>
            </a:r>
            <a:endParaRPr lang="hu-HU" sz="1400" b="0" dirty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400" b="0" dirty="0" err="1">
                <a:solidFill>
                  <a:srgbClr val="6B7280"/>
                </a:solidFill>
                <a:latin typeface="Segoe UI"/>
              </a:rPr>
              <a:t>Amikor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bármit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csinál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(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jelentkezik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,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adatot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kér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), 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böngésző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egy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kérelmet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küld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szervernek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. </a:t>
            </a:r>
            <a:endParaRPr lang="hu-HU" sz="1400" b="0" dirty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400" b="0" dirty="0">
                <a:solidFill>
                  <a:srgbClr val="6B7280"/>
                </a:solidFill>
                <a:latin typeface="Segoe UI"/>
              </a:rPr>
              <a:t>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szerver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feldolgozza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kérelmet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,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szükséges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esetén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adatot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olvas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vagy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ír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az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adatbázisba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,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és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visszaküldi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választ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 a </a:t>
            </a:r>
            <a:r>
              <a:rPr sz="1400" b="0" dirty="0" err="1">
                <a:solidFill>
                  <a:srgbClr val="6B7280"/>
                </a:solidFill>
                <a:latin typeface="Segoe UI"/>
              </a:rPr>
              <a:t>böngészőbe</a:t>
            </a:r>
            <a:r>
              <a:rPr sz="1400" b="0" dirty="0">
                <a:solidFill>
                  <a:srgbClr val="6B7280"/>
                </a:solidFill>
                <a:latin typeface="Segoe UI"/>
              </a:rPr>
              <a:t>.</a:t>
            </a:r>
          </a:p>
        </p:txBody>
      </p:sp>
      <p:sp>
        <p:nvSpPr>
          <p:cNvPr id="12" name="Téglalap 11">
            <a:extLst>
              <a:ext uri="{FF2B5EF4-FFF2-40B4-BE49-F238E27FC236}">
                <a16:creationId xmlns:a16="http://schemas.microsoft.com/office/drawing/2014/main" id="{D46DDC98-B019-4D7C-BD1C-6B79FDE1913D}"/>
              </a:ext>
            </a:extLst>
          </p:cNvPr>
          <p:cNvSpPr/>
          <p:nvPr/>
        </p:nvSpPr>
        <p:spPr>
          <a:xfrm>
            <a:off x="0" y="6750800"/>
            <a:ext cx="12192000" cy="107199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10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4. Hogyan tárolja az adatokat?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11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Három táblázat az adatbázisban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100000"/>
            <a:ext cx="3400000" cy="4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333399"/>
                </a:solidFill>
                <a:latin typeface="Segoe UI"/>
              </a:rPr>
              <a:t>kepzesek
(tanfolyam típusok)</a:t>
            </a:r>
          </a:p>
          <a:p>
            <a:pPr algn="l"/>
            <a:endParaRPr sz="16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kid - sorszám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knév - név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óraszám - hány órás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0000" y="1100000"/>
            <a:ext cx="3400000" cy="4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333399"/>
                </a:solidFill>
                <a:latin typeface="Segoe UI"/>
              </a:rPr>
              <a:t>csoportok
(mikor, hol indul)</a:t>
            </a:r>
          </a:p>
          <a:p>
            <a:pPr algn="l"/>
            <a:endParaRPr sz="16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csid - sorszám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kid - melyik képzés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indulás - dátum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beosztas, helyszin,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0" y="1100000"/>
            <a:ext cx="3400000" cy="4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333399"/>
                </a:solidFill>
                <a:latin typeface="Segoe UI"/>
              </a:rPr>
              <a:t>jelentkezok
(ki iratkozott be)</a:t>
            </a:r>
          </a:p>
          <a:p>
            <a:pPr algn="l"/>
            <a:endParaRPr sz="16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jid - sorszám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csid - melyik csoport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név, szül.név, szül.idő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szul.hely, anyja neve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cim, telefon, email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00000"/>
            <a:ext cx="110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Kapcsolatok: Egy képzéshez több csoport tartozhat, egy csoporthoz több jelentkező.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Fontos: egy csoportba maximum 8 fő jelentkezhet.</a:t>
            </a:r>
          </a:p>
        </p:txBody>
      </p:sp>
      <p:sp>
        <p:nvSpPr>
          <p:cNvPr id="10" name="Téglalap 9">
            <a:extLst>
              <a:ext uri="{FF2B5EF4-FFF2-40B4-BE49-F238E27FC236}">
                <a16:creationId xmlns:a16="http://schemas.microsoft.com/office/drawing/2014/main" id="{A8B1C2E8-574B-4E4C-88F8-735ABE305CD0}"/>
              </a:ext>
            </a:extLst>
          </p:cNvPr>
          <p:cNvSpPr/>
          <p:nvPr/>
        </p:nvSpPr>
        <p:spPr>
          <a:xfrm>
            <a:off x="0" y="6750800"/>
            <a:ext cx="12192000" cy="10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5. Mit lát a látogató?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13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 főoldal felülről lefele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Fejléc + menü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Iskola neve, navigációs linkek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3 tanfolyam kártya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Kép, leírás, "Részletek" link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Induló csoportok tábla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Automatikusan frissül: melyik képzés mikor, hol, mennyi a szabad hely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Jelentkezési űrlap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Adatok kitöltése + "Jelentkezem" gomb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Admin belépés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   Jelszó mező + gomb (az oldal alján)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903DA9A9-B695-47D2-A21E-045DF460108B}"/>
              </a:ext>
            </a:extLst>
          </p:cNvPr>
          <p:cNvSpPr/>
          <p:nvPr/>
        </p:nvSpPr>
        <p:spPr>
          <a:xfrm>
            <a:off x="0" y="6750800"/>
            <a:ext cx="12192000" cy="107199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14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Jelentkezési folyamat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1. A látogató kitölti az űrlapot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2. Megnyomja a "Jelentkezem" gombot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3. A böngésző ellenőrzi az adatokat (kor, hosszak, pipa)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4. Ha rendben van, elküldi a szervernek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5. A szerver is ellenőriz: létezik a csoport? van hely? új e-mail?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6. Ha minden stimmel: a jelentkezést elmenti</a:t>
            </a:r>
          </a:p>
          <a:p>
            <a:pPr algn="l"/>
            <a:r>
              <a:rPr sz="1600" b="0">
                <a:solidFill>
                  <a:srgbClr val="1F2937"/>
                </a:solidFill>
                <a:latin typeface="Segoe UI"/>
              </a:rPr>
              <a:t>7. A felhasznalo "Sikeres jelentkezes!" üzenetet kap</a:t>
            </a:r>
          </a:p>
          <a:p>
            <a:pPr algn="l"/>
            <a:endParaRPr sz="16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Ha valami nem stimmel, a felhasználó hibaüzenetet kap (pl. "A csoport megtelt").</a:t>
            </a: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0631ED38-2C45-4D05-B7F4-786EB7C92365}"/>
              </a:ext>
            </a:extLst>
          </p:cNvPr>
          <p:cNvSpPr/>
          <p:nvPr/>
        </p:nvSpPr>
        <p:spPr>
          <a:xfrm>
            <a:off x="0" y="6750800"/>
            <a:ext cx="12192000" cy="107199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15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6. Mit lát az admin?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16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Az admin felület oldalai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Belepes: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A főoldal alján megadja a jelszót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Ha helyes: 1 órás "igazolvanyt" kap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Átirányítja a csoportok oldalra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Kijelentkezes: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Az igazolvány törlésre kerül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Visszakerül a főoldalra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Elérhető oldalak: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Csoportok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Összes csoport listája + új felvétele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Jelentkezok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Egy csoport jelentkezői + új felvétele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Csoport módosítás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Meglévő csoport adatainak szerkesztése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Jelentkező módosítás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Egy személy adatainak szerkesztése</a:t>
            </a:r>
          </a:p>
          <a:p>
            <a:pPr algn="l"/>
            <a:r>
              <a:rPr sz="1500" b="1">
                <a:solidFill>
                  <a:srgbClr val="1F2937"/>
                </a:solidFill>
                <a:latin typeface="Segoe UI"/>
              </a:rPr>
              <a:t>Admin súgó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Használati útmutató</a:t>
            </a:r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6CD62B89-C340-4734-9A19-0F8DC054E7E0}"/>
              </a:ext>
            </a:extLst>
          </p:cNvPr>
          <p:cNvSpPr/>
          <p:nvPr/>
        </p:nvSpPr>
        <p:spPr>
          <a:xfrm>
            <a:off x="1" y="6750800"/>
            <a:ext cx="12192000" cy="88764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17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Segoe UI"/>
              </a:rPr>
              <a:t>7. Hogyan kommunikál a felület a szerverrel?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Végpontok: a szerver "ajtoi"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Nyilvános (bárki eléri):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Csoportok listája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A még el nem indult csoportokat adja vissza</a:t>
            </a:r>
          </a:p>
          <a:p>
            <a:pPr algn="l"/>
            <a:endParaRPr sz="13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Jelentkezes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A jelentkező adatait rögzíti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Ellenőrzi: van hely? új e-mail? létezik a csoport?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000000"/>
            <a:ext cx="5500000" cy="5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Admin (csak belépve):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Bejelentkezés (jelszó ellen. + token)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Összes csoport listája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Új csoport hozzáadása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Csoport adatainak lekérése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Csoport módosítása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Csoport törlése (csak ha üres)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Egy csoport jelentkezői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Jelentkező adatai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Jelentkező módosítása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Jelentkező törlése</a:t>
            </a:r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8308F67A-6C3A-477C-8A2E-69B7F92A8379}"/>
              </a:ext>
            </a:extLst>
          </p:cNvPr>
          <p:cNvSpPr/>
          <p:nvPr/>
        </p:nvSpPr>
        <p:spPr>
          <a:xfrm>
            <a:off x="0" y="6750800"/>
            <a:ext cx="12192000" cy="10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19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8. Hogyan védett a rendszer?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20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Biztonsági megoldások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Jelszó titkosítás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A jelszót nem sima szövegként tároljuk, hanem titkosított formában. Még ha valaki látja a fájlt, nem tudja kiolvasni a jelszót belőle.</a:t>
            </a:r>
          </a:p>
          <a:p>
            <a:pPr algn="l"/>
            <a:endParaRPr sz="13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Belépési igazolvány (token)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Sikeres belépés után a szerver kiad egy "igazolvanyt" ami 1 óráig érvényes. Minden kérésnél ezt mutatja be az admin. Ha lejár, újra be kell lépni.</a:t>
            </a:r>
          </a:p>
          <a:p>
            <a:pPr algn="l"/>
            <a:endParaRPr sz="13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Külön titkos fájl (.env)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A jelszó és a titkos kulcs egy külön fájlban vannak, nem a program kódjában. Ez a fájl nem kerül fel az internetre.</a:t>
            </a:r>
          </a:p>
          <a:p>
            <a:pPr algn="l"/>
            <a:endParaRPr sz="13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Adatvedelem</a:t>
            </a:r>
          </a:p>
          <a:p>
            <a:pPr algn="l"/>
            <a:r>
              <a:rPr sz="1300" b="0">
                <a:solidFill>
                  <a:srgbClr val="1F2937"/>
                </a:solidFill>
                <a:latin typeface="Segoe UI"/>
              </a:rPr>
              <a:t>Egy e-maillel csak egyszer lehet jelentkezni egy csoportba. Egy csoportba max 8 fő fér. Csoportot csak üresen lehet törölni.</a:t>
            </a:r>
          </a:p>
          <a:p>
            <a:pPr algn="l"/>
            <a:endParaRPr sz="1300" b="0">
              <a:solidFill>
                <a:srgbClr val="1F2937"/>
              </a:solidFill>
              <a:latin typeface="Segoe UI"/>
            </a:endParaRP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1744012E-9E29-473D-B60C-0A659FE3ABDB}"/>
              </a:ext>
            </a:extLst>
          </p:cNvPr>
          <p:cNvSpPr/>
          <p:nvPr/>
        </p:nvSpPr>
        <p:spPr>
          <a:xfrm>
            <a:off x="0" y="6750800"/>
            <a:ext cx="12192000" cy="10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21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9. Hogyan teszteltük?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22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Tesztelés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5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Szerver tesztek (.http fájlok)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Küldünk kérelmet a szervernek és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megnézzük, a várt válasz jön-e vissza.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Például: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Sikeres és sikertelen jelentkezés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Csoport létrehozás, módosítás, törlés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Hibás jelszó, lejárt token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- Teli csoport, nem létező csoport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0000" y="1100000"/>
            <a:ext cx="55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333399"/>
                </a:solidFill>
                <a:latin typeface="Segoe UI"/>
              </a:rPr>
              <a:t>Felületi tesztek (kézzel)</a:t>
            </a:r>
          </a:p>
          <a:p>
            <a:pPr algn="l"/>
            <a:endParaRPr sz="1800" b="1">
              <a:solidFill>
                <a:srgbClr val="333399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Böngészőbe betöltjük az oldalt</a:t>
            </a:r>
          </a:p>
          <a:p>
            <a:pPr algn="l"/>
            <a:r>
              <a:rPr sz="1400" b="0">
                <a:solidFill>
                  <a:srgbClr val="1F2937"/>
                </a:solidFill>
                <a:latin typeface="Segoe UI"/>
              </a:rPr>
              <a:t>és végigcsináljuk a műveleteket:</a:t>
            </a:r>
          </a:p>
          <a:p>
            <a:pPr algn="l"/>
            <a:endParaRPr sz="1400" b="0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27 admin teszteset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24 nyilvános teszteset</a:t>
            </a:r>
          </a:p>
          <a:p>
            <a:pPr algn="l"/>
            <a:endParaRPr sz="1400" b="1">
              <a:solidFill>
                <a:srgbClr val="1F2937"/>
              </a:solidFill>
              <a:latin typeface="Segoe UI"/>
            </a:endParaRP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Eredmények: test_execution_log.xlsx</a:t>
            </a:r>
          </a:p>
          <a:p>
            <a:pPr algn="l"/>
            <a:r>
              <a:rPr sz="1400" b="0">
                <a:solidFill>
                  <a:srgbClr val="6B7280"/>
                </a:solidFill>
                <a:latin typeface="Segoe UI"/>
              </a:rPr>
              <a:t>Tesztadatok: 3 képzés, 5 csoport, 21 fő</a:t>
            </a:r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42978576-ECAD-4E9C-824A-4BE2A6EA3C0E}"/>
              </a:ext>
            </a:extLst>
          </p:cNvPr>
          <p:cNvSpPr/>
          <p:nvPr/>
        </p:nvSpPr>
        <p:spPr>
          <a:xfrm>
            <a:off x="0" y="6750800"/>
            <a:ext cx="12192000" cy="10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23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10. Hogyan kell elindítani?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6400800"/>
            <a:ext cx="60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Segoe UI"/>
              </a:rPr>
              <a:t>Tanfolyamok - Pogány Frigyes Technikum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60000" y="6400800"/>
            <a:ext cx="1800000" cy="3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Segoe UI"/>
              </a:rPr>
              <a:t>24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320000"/>
            <a:ext cx="11700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333399"/>
                </a:solidFill>
                <a:latin typeface="Segoe UI"/>
              </a:rPr>
              <a:t>Telepítés és indítás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00000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1. Csomagok telepítése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npm install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Letölti az összes szükséges kiegészítőt</a:t>
            </a:r>
          </a:p>
          <a:p>
            <a:pPr algn="l"/>
            <a:endParaRPr sz="13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2. Jelszó generálása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node generateHash.js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Létrehozza a titkosított jelszót</a:t>
            </a:r>
          </a:p>
          <a:p>
            <a:pPr algn="l"/>
            <a:endParaRPr sz="13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3. Titkos fájl létrehozása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.env fájl a fő mappában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Ide kerül a titkosított jelszó és a titkos kulcs</a:t>
            </a:r>
          </a:p>
          <a:p>
            <a:pPr algn="l"/>
            <a:endParaRPr sz="13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4. Indítás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node app.js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A szerver elindul az 5000-es porton</a:t>
            </a:r>
          </a:p>
          <a:p>
            <a:pPr algn="l"/>
            <a:endParaRPr sz="1300" b="0">
              <a:solidFill>
                <a:srgbClr val="6B7280"/>
              </a:solidFill>
              <a:latin typeface="Segoe UI"/>
            </a:endParaRPr>
          </a:p>
          <a:p>
            <a:pPr algn="l"/>
            <a:r>
              <a:rPr sz="1600" b="1">
                <a:solidFill>
                  <a:srgbClr val="333399"/>
                </a:solidFill>
                <a:latin typeface="Segoe UI"/>
              </a:rPr>
              <a:t>5. Megnyitás</a:t>
            </a:r>
          </a:p>
          <a:p>
            <a:pPr algn="l"/>
            <a:r>
              <a:rPr sz="1400" b="1">
                <a:solidFill>
                  <a:srgbClr val="1F2937"/>
                </a:solidFill>
                <a:latin typeface="Segoe UI"/>
              </a:rPr>
              <a:t>   http://localhost:5000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Segoe UI"/>
              </a:rPr>
              <a:t>   A böngészőbe beírva megjelenik az oldal</a:t>
            </a:r>
          </a:p>
          <a:p>
            <a:pPr algn="l"/>
            <a:endParaRPr sz="1300" b="0">
              <a:solidFill>
                <a:srgbClr val="6B7280"/>
              </a:solidFill>
              <a:latin typeface="Segoe UI"/>
            </a:endParaRPr>
          </a:p>
        </p:txBody>
      </p:sp>
      <p:sp>
        <p:nvSpPr>
          <p:cNvPr id="7" name="Téglalap 6">
            <a:extLst>
              <a:ext uri="{FF2B5EF4-FFF2-40B4-BE49-F238E27FC236}">
                <a16:creationId xmlns:a16="http://schemas.microsoft.com/office/drawing/2014/main" id="{AFF79B0C-8D44-4FAD-B8A2-0C91D581033F}"/>
              </a:ext>
            </a:extLst>
          </p:cNvPr>
          <p:cNvSpPr/>
          <p:nvPr/>
        </p:nvSpPr>
        <p:spPr>
          <a:xfrm>
            <a:off x="0" y="6750800"/>
            <a:ext cx="12192000" cy="10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00" y="600000"/>
            <a:ext cx="109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Összefoglalás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600000"/>
            <a:ext cx="10900000" cy="3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Teljes körű weboldal tanfolyamok kezelésére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3 részes felépítés: weboldal + szerver + adatbázis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12 szerver végpont (2 nyilvános + 10 jelszóvédett)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Biztonságos: titkosított jelszó + belépési igazolvány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Ellenőrzések mindkét oldalon (böngészőben és szerveren is)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51 teszteset: felületi és szerver tesztek</a:t>
            </a:r>
          </a:p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  Telefonon is jól működő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5600000"/>
            <a:ext cx="109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Köszönjük a figyelmet!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6100000"/>
            <a:ext cx="109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Andorfer Vendel  |  Babai Máté  |  Varga Mátyás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1432</Words>
  <Application>Microsoft Office PowerPoint</Application>
  <PresentationFormat>Szélesvásznú</PresentationFormat>
  <Paragraphs>285</Paragraphs>
  <Slides>25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25</vt:i4>
      </vt:variant>
    </vt:vector>
  </HeadingPairs>
  <TitlesOfParts>
    <vt:vector size="29" baseType="lpstr">
      <vt:lpstr>Arial</vt:lpstr>
      <vt:lpstr>Calibri</vt:lpstr>
      <vt:lpstr>Segoe UI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/>
  <cp:keywords/>
  <dc:description>generated using python-pptx</dc:description>
  <cp:lastModifiedBy>Andorfer Vendel János</cp:lastModifiedBy>
  <cp:revision>5</cp:revision>
  <dcterms:created xsi:type="dcterms:W3CDTF">2013-01-27T09:14:16Z</dcterms:created>
  <dcterms:modified xsi:type="dcterms:W3CDTF">2026-04-29T08:14:44Z</dcterms:modified>
  <cp:category/>
</cp:coreProperties>
</file>