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0528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Ez a prezentáció a Pogány Frigyes Technikum számára készült Tanfolyamok nevű webalkalmazás részletes bemutatóját tartalmazza. Készítette: Andorfer Vendel, Babai Máté és Varga Mátyás. A projekt egy valós iskolai igényt old meg: digitális platform az esti és hétvégi tanfolyamok hirdetéséhez és a hallgatói jelentkezések kezeléséhez.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Ez a dia a prezentáció főbb fejezeteit mutatja be. A bal oszlopban az alkalmazás bemutatásának alapjai, a jobb oszlopban a technikai mélyebb részletek szerepelnek. Az előadás végigvezeti a hallgatókat a projekt céljától egészen a telepítési folyamatig.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Első fejezet kezdete. Ebben a szekcióban megismerjük az alkalmazás hátterét, a megoldandó problémát és a célközönséget.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Pogány Frigyes Technikum Budapesten, a XVIII. kerületben található szakképzési intézmény. A projekt valós iskolai igényt old meg: egy egyszerű, modern webalkalmazást biztosít a digitális tanfolyamok kezeléséhez. Korábban papír alapú folyamatok zajlottak, amelyek lassúak és nehezen nyomon követhetők voltak.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alkalmazásnak két fő felhasználói csoportja van: a nyilvánosság, akik böngészhetnek és jelentkezhetnek; és az adminisztrátorok, akik a csoportokat és hallgatókat kezelik. A 18-65 éves korhatár üzleti szabályként van implementálva a kliens- és szerver-oldali validációban.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adatbázisban ez a három képzés fix adatként szerepel a kepzesek táblában. A csoportok ezekhez a képzésekhez kapcsolódnak idegen kulcson keresztül (kid). Az alkalmazás nem biztosít admin funkciót új képzés hozzáadásához – ez szándékos tervezési döntés, mivel a tanfolyamok szkémája stabil.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Második fejezet: az alkalmazásban használt összes technológia és csomag részletes bemutatása.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Express.js a Node.js egyik legnépszerűbb web-keretrendszere – minimális boilerplate kóddal lehet REST API-t felépíteni. A better-sqlite3 szinkron API-t kínál, ami Node.js-en egyszerűsíti a kódot (nem kell Promise/callback lánc). A bcrypt és jsonwebtoken a biztonsági réteg alappillérjei. Az összes csomag verziója package.json-ban rögzített.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frontend </a:t>
            </a:r>
            <a:r>
              <a:rPr dirty="0" err="1"/>
              <a:t>szándékosan</a:t>
            </a:r>
            <a:r>
              <a:rPr dirty="0"/>
              <a:t> </a:t>
            </a:r>
            <a:r>
              <a:rPr dirty="0" err="1"/>
              <a:t>egyszerű</a:t>
            </a:r>
            <a:r>
              <a:rPr dirty="0"/>
              <a:t> – vanilla JS </a:t>
            </a:r>
            <a:r>
              <a:rPr dirty="0" err="1"/>
              <a:t>és</a:t>
            </a:r>
            <a:r>
              <a:rPr dirty="0"/>
              <a:t> Bootstrap 5. </a:t>
            </a:r>
            <a:r>
              <a:rPr dirty="0" err="1"/>
              <a:t>Ez</a:t>
            </a:r>
            <a:r>
              <a:rPr dirty="0"/>
              <a:t> </a:t>
            </a:r>
            <a:r>
              <a:rPr dirty="0" err="1"/>
              <a:t>megkönnyíti</a:t>
            </a:r>
            <a:r>
              <a:rPr dirty="0"/>
              <a:t> a </a:t>
            </a:r>
            <a:r>
              <a:rPr dirty="0" err="1"/>
              <a:t>karbantartást</a:t>
            </a:r>
            <a:r>
              <a:rPr dirty="0"/>
              <a:t> </a:t>
            </a:r>
            <a:r>
              <a:rPr dirty="0" err="1"/>
              <a:t>és</a:t>
            </a:r>
            <a:r>
              <a:rPr dirty="0"/>
              <a:t> </a:t>
            </a:r>
            <a:r>
              <a:rPr dirty="0" err="1"/>
              <a:t>nem</a:t>
            </a:r>
            <a:r>
              <a:rPr dirty="0"/>
              <a:t> </a:t>
            </a:r>
            <a:r>
              <a:rPr dirty="0" err="1"/>
              <a:t>igényel</a:t>
            </a:r>
            <a:r>
              <a:rPr dirty="0"/>
              <a:t> build-</a:t>
            </a:r>
            <a:r>
              <a:rPr dirty="0" err="1"/>
              <a:t>lépést</a:t>
            </a:r>
            <a:r>
              <a:rPr dirty="0"/>
              <a:t> (</a:t>
            </a:r>
            <a:r>
              <a:rPr dirty="0" err="1"/>
              <a:t>nincs</a:t>
            </a:r>
            <a:r>
              <a:rPr dirty="0"/>
              <a:t> Webpack/</a:t>
            </a:r>
            <a:r>
              <a:rPr dirty="0" err="1"/>
              <a:t>Vite</a:t>
            </a:r>
            <a:r>
              <a:rPr dirty="0"/>
              <a:t> </a:t>
            </a:r>
            <a:r>
              <a:rPr dirty="0" err="1"/>
              <a:t>szükséges</a:t>
            </a:r>
            <a:r>
              <a:rPr dirty="0"/>
              <a:t>). Az </a:t>
            </a:r>
            <a:r>
              <a:rPr dirty="0" err="1"/>
              <a:t>összes</a:t>
            </a:r>
            <a:r>
              <a:rPr dirty="0"/>
              <a:t> </a:t>
            </a:r>
            <a:r>
              <a:rPr dirty="0" err="1"/>
              <a:t>statikus</a:t>
            </a:r>
            <a:r>
              <a:rPr dirty="0"/>
              <a:t> </a:t>
            </a:r>
            <a:r>
              <a:rPr dirty="0" err="1"/>
              <a:t>fájl</a:t>
            </a:r>
            <a:r>
              <a:rPr dirty="0"/>
              <a:t> a /public </a:t>
            </a:r>
            <a:r>
              <a:rPr dirty="0" err="1"/>
              <a:t>mappából</a:t>
            </a:r>
            <a:r>
              <a:rPr dirty="0"/>
              <a:t> </a:t>
            </a:r>
            <a:r>
              <a:rPr dirty="0" err="1"/>
              <a:t>kerül</a:t>
            </a:r>
            <a:r>
              <a:rPr dirty="0"/>
              <a:t> </a:t>
            </a:r>
            <a:r>
              <a:rPr dirty="0" err="1"/>
              <a:t>kiszolgálásra</a:t>
            </a:r>
            <a:r>
              <a:rPr dirty="0"/>
              <a:t> </a:t>
            </a:r>
            <a:r>
              <a:rPr dirty="0" err="1"/>
              <a:t>az</a:t>
            </a:r>
            <a:r>
              <a:rPr dirty="0"/>
              <a:t> Express.js </a:t>
            </a:r>
            <a:r>
              <a:rPr dirty="0" err="1"/>
              <a:t>express.static</a:t>
            </a:r>
            <a:r>
              <a:rPr dirty="0"/>
              <a:t>() middleware-</a:t>
            </a:r>
            <a:r>
              <a:rPr dirty="0" err="1"/>
              <a:t>én</a:t>
            </a:r>
            <a:r>
              <a:rPr dirty="0"/>
              <a:t> </a:t>
            </a:r>
            <a:r>
              <a:rPr dirty="0" err="1"/>
              <a:t>keresztül</a:t>
            </a:r>
            <a:r>
              <a:rPr dirty="0"/>
              <a:t>. A </a:t>
            </a:r>
            <a:r>
              <a:rPr dirty="0" err="1"/>
              <a:t>sessionStorage</a:t>
            </a:r>
            <a:r>
              <a:rPr dirty="0"/>
              <a:t> </a:t>
            </a:r>
            <a:r>
              <a:rPr dirty="0" err="1"/>
              <a:t>használata</a:t>
            </a:r>
            <a:r>
              <a:rPr dirty="0"/>
              <a:t> </a:t>
            </a:r>
            <a:r>
              <a:rPr dirty="0" err="1"/>
              <a:t>azt</a:t>
            </a:r>
            <a:r>
              <a:rPr dirty="0"/>
              <a:t> </a:t>
            </a:r>
            <a:r>
              <a:rPr dirty="0" err="1"/>
              <a:t>jelenti</a:t>
            </a:r>
            <a:r>
              <a:rPr dirty="0"/>
              <a:t>, </a:t>
            </a:r>
            <a:r>
              <a:rPr dirty="0" err="1"/>
              <a:t>hogy</a:t>
            </a:r>
            <a:r>
              <a:rPr dirty="0"/>
              <a:t> a token </a:t>
            </a:r>
            <a:r>
              <a:rPr dirty="0" err="1"/>
              <a:t>böngészőtab</a:t>
            </a:r>
            <a:r>
              <a:rPr dirty="0"/>
              <a:t> </a:t>
            </a:r>
            <a:r>
              <a:rPr dirty="0" err="1"/>
              <a:t>bezárásakor</a:t>
            </a:r>
            <a:r>
              <a:rPr dirty="0"/>
              <a:t> </a:t>
            </a:r>
            <a:r>
              <a:rPr dirty="0" err="1"/>
              <a:t>automatikusan</a:t>
            </a:r>
            <a:r>
              <a:rPr dirty="0"/>
              <a:t> </a:t>
            </a:r>
            <a:r>
              <a:rPr dirty="0" err="1"/>
              <a:t>törlődik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SQLite ideális választás ehhez a projekthez: nem igényel külön szerver-folyamatot, a teljes adatbázis egyetlen fájlban tárolódik. A WAL mód javítja az egyidejű olvasás teljesítményét. A generateHash.js egy egyszerű segédprogram: node generateHash.js futtatásával generálható az admin jelszó bcrypt hash-je, amelyet a .env fájlba kell bemásolni.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Harmadik fejezet: az alkalmazás architektúrájának és fájlstruktúrájának részletes bemutatása.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3-rétegű architektúra egyértelmű szétválasztást biztosít a megjelenítési, üzleti logikai és adattárolási réteg között. Az Express.js egyszerre szolgálja ki a statikus frontend fájlokat ÉS a REST API kéréseket. A /api/* végpontok JSON választ adnak, a többi URL-re a /public mappa statikus fájljait küldi 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app.js az alkalmazás magja – egyetlen fájlban tartalmazza az összes Express middleware-t, az adatbázis inicializálást és mind a publikus, mind az admin API végpontokat. A frontend fájlok a /public mappában találhatók, amelyet az Express statikusan szolgál ki. A .env fájl sosem kerül verziókezelőbe (gitignore).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Negyedik fejezet: az adatbázis táblái, DDL szkémájuk és kapcsolataik részletes bemutatása.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adatbázis három táblából áll, amelyek egymással egy-a-többhöz (1:N) kapcsolatban állnak. Egy képzéshez több csoport tartozhat, egy csoporthoz több jelentkező. A teszt-adatbázisban 3 képzés, 5 csoport és 21 hallgató szerepel. Az indexek a JOIN lekérdezések teljesítményét javítják.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kepzesek tábla a három fix tanfolyamot tárolja. A csoportok tábla minden induló kurzuscsoportot tartalmaz. Az indulas mező TEXT típusként van tárolva YYYY-MM-DD formátumban, az SQLite date() függvény kompatibilitása miatt (pl. WHERE indulas &gt;= date('now')). Az idegen kulcs kényszert a PRAGMA foreign_keys = ON kapcsolja be az app.js indulásakor.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szulnev mező opcionális (DEFAULT NULL) – ha a születési név megegyezik a jelenlegi névvel, üresen is hagyható. Az email mező nem rendelkezik UNIQUE kényszerrel az adatbázis szintjén, a duplikáció-ellenőrzés alkalmazás szinten történik (SELECT jid WHERE csid=? AND email=?).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Ötödik fejezet: a publikus weboldalak, a főoldal felépítése és a jelentkezési folyamat.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index.html az alkalmazás egyetlen publikus oldala a tanfolyam-leírásokkal és a jelentkezési folyamattal. A JavaScript az oldal betöltésekor azonnal lekéri az aktuális csoportadatokat (GET /public/csoportok). Az induló csoportok táblázata automatikusan frissül sikeres jelentkezés után. A szabad helyek száma (8 - aktuális létszám) valós időben megjelenik.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Minden tanfolyamnak saját leíró oldala van. Ezek teljesen statikusak, nincs dinamikus tartalmuk – az Express.js express.static() middleware-e szolgálja ki őket. Az admin_help.html a csoportok.html admin oldalon érhető el 'Admin súgó' linkként, új böngészőfülön nyílik meg.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kliens-oldali validáció az első védelmi vonal – megakadályozza az érvénytelen kérések hálózaton való küldését. A szerver-oldali validáció a második vonal – megvéd az érvénytelen API hívásokkal szemben (pl. Postman-ből). A 409 Conflict kód jelenti: teli csoport VAGY duplikált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Hatodik fejezet: az admin felület oldalai, a bejelentkezési folyamat és a CRUD műveletek.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 admin felület minden kérése az Authorization: Bearer &lt;token&gt; fejléccel küld JWT tokent. Ha a token hiányzik, a szerver 401 választ küld; ha érvénytelen/lejárt, 403-at. Az oldal ilyenkor visszairányít az index.html bejelentkezési részéhez. A sessionStorage-ot használja a token tároláshoz, így bezárt lapfülnél automatikusan törlődik.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csoportok.html az admin felület központja. A sessionStorage csid változó tárolja, melyik csoport van kiválasztva a hallgatólista és módosítás oldalak számára. Csak üres csoport törölhető – ha van hallgató, a szerver 400-as hibát küld a foreign key kényszer miatt. A negatív ár szerver-oldalon is tiltva van.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Fontos részlet: az új hallgató hozzáadása a jelentkezok.html-en keresztül is a /public/jelentkezok végpontot hívja meg, így az összes üzleti szabály (max 8 fő, duplikált email, csoport indulása) érvényes marad. A hallgató módosítás (PUT) nem ellenőrzi a létszámlimitet – ez szándékos döntés, adminisztrátorok felülírhatják.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Hetedik-nyolcadik fejezet: az összes REST API végpont részletes dokumentációja request/response formátummal.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GET /public/csoportok egy JOIN query-vel egyszerre kéri le a képzés nevét és az aktuális létszámot. A WHERE indulas &gt;= date('now') feltétel szűri ki a már elindult csoportokat. A letszam mező: COUNT(jid) – a LEFT JOIN biztosítja, hogy a 0 fős csoportok is megjelenjenek.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Minden admin végpont az authenticateToken middleware-en keresztül fut, amely ellenőrzi az Authorization fejlécben lévő Bearer tokent. Ha a token hiányzik: 401 (Unauthorized), ha érvénytelen/lejárt: 403 (Forbidden). A DELETE esetén a foreign key kényszer megakadályozza a hallgatóval rendelkező csoport törlését.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hallgató módosítás (PUT) nem ellenőrzi a létszámlimitet – ez szándékos döntés, adminisztrátorok felülírhatják az üzleti szabályokat. Az admin/lista/:csid először ellenőrzi a csoport létezését (SELECT csid FROM csoportok WHERE csid=?), mielőtt a hallgatókat lekéri. A DELETE /admin/jelentkezok/:jid valóban törli az adatbázisból a hallgató rekordját.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Kilencedik fejezet: az alkalmazásban implementált biztonsági megoldások részletes bemutatása.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négy biztonsági réteg együttesen biztosítja az alkalmazás védelmét. A bcrypt és JWT az iparági standard megoldások. Az SQL paraméter-kötés megakadályozza az SQL injection támadásokat. A .env fájl titkosság megőrzését a gitignore biztosítja. Fontos: a JWT payload-ban csak a jelszó értéke van – ez suboptimális (jobb lenne egy user_id), de funkcionálisan helyes.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JWT token payload-jában csak a password értéke van – ez szuboptimális (jobb lenne egy user_id), de funkcionálisan helyes, mivel csak egy admin felhasználó létezik. A bcrypt cost factor 10 jó kompromisszum biztonság és teljesítmény között – modern számítógépen ~100ms/hash.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kliens-oldali validáció az első védelmi vonal – megakadályozza az érvénytelen kérések hálózaton való küldését. Az életkor ellenőrzése az évszám alapján történik: szev &gt;= ev-18 azt jelenti, hogy 18 évnél fiatalabb. Az ellenoriz() üres stringet ad vissza, ha minden rendben van. Más mezők: anyjaneve (5-60), szulhely (3-60), telefon (8-15), email (contains '@' és '.com'/'.hu' stb.).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kétszintű validáció (kliens + szerver) robusztus védelmet nyújt. A szerver minden esetben ellenőrzi a bemenetet, függetlenül attól, hogy a kliens-oldali validáción átment-e. A 409 Conflict két különböző okból is visszakerülhet: teli csoport VAGY duplikált email ugyanabban a csoportban.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tesztelés két szinten zajlik: API szinten .http fájlokkal és UI szinten manuális E2E tesztesetekkel. Az összesített 51 teszteset lefedi a fontosabb pozitív (helyes adatok) és negatív (hibás adatok, határesetek) forgatókönyveket. A test_execution_log.xlsx Excel fájl tartalmazza az összes teszteset futtatásának eredményét.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telepítési folyamat hat lépésből áll. A legfontosabb biztonsági lépés a .env fájl helyes beállítása – ez tartalmazza az admin jelszó hash-t és a JWT titkos kulcsot. Ezek nélkül az alkalmazás nem indul el helyesen. A TOKEN_SECRET értéke legyen hosszú, véletlenszerű string (pl. generált UUID vagy 32+ karakter).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záródia összefoglalja a projekt főbb jellemzőit. Az alkalmazás egy valós iskolai igényt old meg modern, egyszerű, de biztonságos technológiákkal. A projekt jól demonstrálja a 3-rétegű webarchitektúrát, a REST API tervezést, az authentikációt és a validációt.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115568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Tanfolyamok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4C8F0"/>
                </a:solidFill>
                <a:latin typeface="Calibri"/>
              </a:rPr>
              <a:t>Digitális tanfolyam-kezelő webalkalmazás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 err="1">
                <a:solidFill>
                  <a:srgbClr val="96AAD2"/>
                </a:solidFill>
                <a:latin typeface="Calibri"/>
              </a:rPr>
              <a:t>Pogány</a:t>
            </a:r>
            <a:r>
              <a:rPr sz="1800" b="0" i="0" dirty="0">
                <a:solidFill>
                  <a:srgbClr val="96AAD2"/>
                </a:solidFill>
                <a:latin typeface="Calibri"/>
              </a:rPr>
              <a:t> Frigyes </a:t>
            </a:r>
            <a:r>
              <a:rPr sz="1800" b="0" i="0" dirty="0" err="1">
                <a:solidFill>
                  <a:srgbClr val="96AAD2"/>
                </a:solidFill>
                <a:latin typeface="Calibri"/>
              </a:rPr>
              <a:t>Technikum</a:t>
            </a:r>
            <a:r>
              <a:rPr sz="1800" b="0" i="0" dirty="0">
                <a:solidFill>
                  <a:srgbClr val="96AAD2"/>
                </a:solidFill>
                <a:latin typeface="Calibri"/>
              </a:rPr>
              <a:t>  |  Budapest, 202</a:t>
            </a:r>
            <a:r>
              <a:rPr lang="hu-HU" sz="1800" b="0" i="0" dirty="0">
                <a:solidFill>
                  <a:srgbClr val="96AAD2"/>
                </a:solidFill>
                <a:latin typeface="Calibri"/>
              </a:rPr>
              <a:t>6</a:t>
            </a:r>
            <a:endParaRPr sz="1800" b="0" i="0" dirty="0">
              <a:solidFill>
                <a:srgbClr val="96AAD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Andorfer Vendel  |  Babai Máté  |  Varga Mátyás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7896C8"/>
                </a:solidFill>
                <a:latin typeface="Calibri"/>
              </a:rPr>
              <a:t>Projektmunka  ·  Webalkalmazás-fejlesztés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Tartalom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1.  A projekt célja és kontextusa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2.  Alkalmazott technológiák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3.  Rendszerarchitektúra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4.  Adatbázis-struktúra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5.  Nyilvános felhasználói felület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6.  Adminisztrációs felület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7.  Backend API – publikus végpontok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8.  Backend API – admin végpontok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9.  Biztonsági megoldások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10. Validáció és hibakezelés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11. Tesztelés</a:t>
            </a:r>
          </a:p>
          <a:p>
            <a:pPr algn="l">
              <a:spcBef>
                <a:spcPts val="600"/>
              </a:spcBef>
            </a:pPr>
            <a:r>
              <a:rPr sz="1900" b="0">
                <a:solidFill>
                  <a:srgbClr val="323232"/>
                </a:solidFill>
                <a:latin typeface="Calibri"/>
              </a:rPr>
              <a:t>12. Telepítés és indítás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188720"/>
            <a:ext cx="36576" cy="50292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1. A projekt célja és kontextusa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Miért és kinek készült a Tanfolyamok alkalmazás?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 projekt háttere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430000" cy="2757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🏫 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Iskola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: BKSZC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Pogány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Frigyes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Technikum</a:t>
            </a:r>
            <a:endParaRPr sz="1800" b="0" dirty="0">
              <a:solidFill>
                <a:srgbClr val="323232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        1183 Budapest,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Thököly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út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11.</a:t>
            </a:r>
          </a:p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📋  Az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iskola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esti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és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hétvégi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digitális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képzéseket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kínál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nagyközönségnek</a:t>
            </a:r>
            <a:endParaRPr sz="1800" b="0" dirty="0">
              <a:solidFill>
                <a:srgbClr val="323232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📝  A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jelentkezési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folyamat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korábban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manuálisan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papíron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zajlott</a:t>
            </a:r>
            <a:endParaRPr sz="1800" b="0" dirty="0">
              <a:solidFill>
                <a:srgbClr val="323232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800" b="1" dirty="0">
                <a:solidFill>
                  <a:srgbClr val="1E50A2"/>
                </a:solidFill>
                <a:latin typeface="Calibri"/>
              </a:rPr>
              <a:t>💡  </a:t>
            </a:r>
            <a:r>
              <a:rPr sz="1800" b="1" dirty="0" err="1">
                <a:solidFill>
                  <a:srgbClr val="1E50A2"/>
                </a:solidFill>
                <a:latin typeface="Calibri"/>
              </a:rPr>
              <a:t>Cél</a:t>
            </a:r>
            <a:r>
              <a:rPr sz="1800" b="1" dirty="0">
                <a:solidFill>
                  <a:srgbClr val="1E50A2"/>
                </a:solidFill>
                <a:latin typeface="Calibri"/>
              </a:rPr>
              <a:t>: </a:t>
            </a:r>
            <a:r>
              <a:rPr sz="1800" b="1" dirty="0" err="1">
                <a:solidFill>
                  <a:srgbClr val="1E50A2"/>
                </a:solidFill>
                <a:latin typeface="Calibri"/>
              </a:rPr>
              <a:t>digitalizálni</a:t>
            </a:r>
            <a:r>
              <a:rPr sz="1800" b="1" dirty="0">
                <a:solidFill>
                  <a:srgbClr val="1E50A2"/>
                </a:solidFill>
                <a:latin typeface="Calibri"/>
              </a:rPr>
              <a:t> a </a:t>
            </a:r>
            <a:r>
              <a:rPr sz="1800" b="1" dirty="0" err="1">
                <a:solidFill>
                  <a:srgbClr val="1E50A2"/>
                </a:solidFill>
                <a:latin typeface="Calibri"/>
              </a:rPr>
              <a:t>tanfolyam-hirdetést</a:t>
            </a:r>
            <a:r>
              <a:rPr sz="1800" b="1" dirty="0">
                <a:solidFill>
                  <a:srgbClr val="1E50A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E50A2"/>
                </a:solidFill>
                <a:latin typeface="Calibri"/>
              </a:rPr>
              <a:t>és</a:t>
            </a:r>
            <a:r>
              <a:rPr sz="1800" b="1" dirty="0">
                <a:solidFill>
                  <a:srgbClr val="1E50A2"/>
                </a:solidFill>
                <a:latin typeface="Calibri"/>
              </a:rPr>
              <a:t> a </a:t>
            </a:r>
            <a:r>
              <a:rPr sz="1800" b="1" dirty="0" err="1">
                <a:solidFill>
                  <a:srgbClr val="1E50A2"/>
                </a:solidFill>
                <a:latin typeface="Calibri"/>
              </a:rPr>
              <a:t>hallgatói</a:t>
            </a:r>
            <a:r>
              <a:rPr sz="1800" b="1" dirty="0">
                <a:solidFill>
                  <a:srgbClr val="1E50A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E50A2"/>
                </a:solidFill>
                <a:latin typeface="Calibri"/>
              </a:rPr>
              <a:t>jelentkezést</a:t>
            </a:r>
            <a:r>
              <a:rPr lang="hu-HU" b="1" dirty="0">
                <a:solidFill>
                  <a:srgbClr val="1E50A2"/>
                </a:solidFill>
                <a:latin typeface="Calibri"/>
              </a:rPr>
              <a:t> és adminisztrációt</a:t>
            </a:r>
            <a:endParaRPr sz="1800" b="1" dirty="0">
              <a:solidFill>
                <a:srgbClr val="1E50A2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👥 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Projekt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típusa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iskolai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projektmunka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, 3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fős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csapat</a:t>
            </a:r>
            <a:endParaRPr sz="1800" b="0" dirty="0">
              <a:solidFill>
                <a:srgbClr val="323232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📅 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Fejlesztési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időszak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: 202</a:t>
            </a:r>
            <a:r>
              <a:rPr lang="hu-HU" sz="1800" b="0" dirty="0">
                <a:solidFill>
                  <a:srgbClr val="323232"/>
                </a:solidFill>
                <a:latin typeface="Calibri"/>
              </a:rPr>
              <a:t>6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-</a:t>
            </a:r>
            <a:r>
              <a:rPr lang="hu-HU" sz="1800" b="0" dirty="0">
                <a:solidFill>
                  <a:srgbClr val="323232"/>
                </a:solidFill>
                <a:latin typeface="Calibri"/>
              </a:rPr>
              <a:t>o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s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tanév</a:t>
            </a:r>
            <a:endParaRPr sz="1800" b="0" dirty="0">
              <a:solidFill>
                <a:srgbClr val="323232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800" b="0" dirty="0">
                <a:solidFill>
                  <a:srgbClr val="323232"/>
                </a:solidFill>
                <a:latin typeface="Calibri"/>
              </a:rPr>
              <a:t>🔧  </a:t>
            </a:r>
            <a:r>
              <a:rPr sz="1800" b="0" dirty="0" err="1">
                <a:solidFill>
                  <a:srgbClr val="323232"/>
                </a:solidFill>
                <a:latin typeface="Calibri"/>
              </a:rPr>
              <a:t>Technológia</a:t>
            </a:r>
            <a:r>
              <a:rPr sz="1800" b="0" dirty="0">
                <a:solidFill>
                  <a:srgbClr val="323232"/>
                </a:solidFill>
                <a:latin typeface="Calibri"/>
              </a:rPr>
              <a:t>: Node.js + Express + SQLite + Bootstrap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Célok és célközönség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39496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  Projekt céljai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39496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Online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tanfolyam-böngészés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lehetővé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tétele</a:t>
            </a:r>
            <a:endParaRPr sz="16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Egyszerű</a:t>
            </a:r>
            <a:r>
              <a:rPr sz="1600" dirty="0">
                <a:solidFill>
                  <a:srgbClr val="323232"/>
                </a:solidFill>
                <a:latin typeface="Calibri"/>
              </a:rPr>
              <a:t>,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webes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jelentkezési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folyamat</a:t>
            </a:r>
            <a:endParaRPr sz="16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Adminisztrátori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kezelőfelület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csoportok</a:t>
            </a:r>
            <a:r>
              <a:rPr sz="1600" dirty="0">
                <a:solidFill>
                  <a:srgbClr val="323232"/>
                </a:solidFill>
                <a:latin typeface="Calibri"/>
              </a:rPr>
              <a:t>
   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és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hallgatók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menedzseléséhez</a:t>
            </a:r>
            <a:endParaRPr sz="16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Adatok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biztonságos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tárolása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</a:p>
          <a:p>
            <a:pPr>
              <a:spcBef>
                <a:spcPts val="6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Reszponzív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megjelenés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minden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eszközön</a:t>
            </a:r>
            <a:endParaRPr sz="16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</a:t>
            </a:r>
            <a:r>
              <a:rPr lang="hu-HU" sz="1600" dirty="0">
                <a:solidFill>
                  <a:srgbClr val="323232"/>
                </a:solidFill>
                <a:latin typeface="Calibri"/>
              </a:rPr>
              <a:t>Létszám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kezelés</a:t>
            </a:r>
            <a:r>
              <a:rPr lang="hu-HU" sz="1600" dirty="0">
                <a:solidFill>
                  <a:srgbClr val="323232"/>
                </a:solidFill>
                <a:latin typeface="Calibri"/>
              </a:rPr>
              <a:t>e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(max. 8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fő</a:t>
            </a:r>
            <a:r>
              <a:rPr sz="1600" dirty="0">
                <a:solidFill>
                  <a:srgbClr val="323232"/>
                </a:solidFill>
                <a:latin typeface="Calibri"/>
              </a:rPr>
              <a:t>/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csoport</a:t>
            </a:r>
            <a:r>
              <a:rPr sz="1600" dirty="0">
                <a:solidFill>
                  <a:srgbClr val="323232"/>
                </a:solidFill>
                <a:latin typeface="Calibri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  Célközönség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394960" cy="251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 b="1" dirty="0" err="1">
                <a:solidFill>
                  <a:srgbClr val="1E50A2"/>
                </a:solidFill>
                <a:latin typeface="Calibri"/>
              </a:rPr>
              <a:t>Nyilvános</a:t>
            </a:r>
            <a:r>
              <a:rPr sz="1600" b="1" dirty="0">
                <a:solidFill>
                  <a:srgbClr val="1E50A2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E50A2"/>
                </a:solidFill>
                <a:latin typeface="Calibri"/>
              </a:rPr>
              <a:t>felhasználók</a:t>
            </a:r>
            <a:r>
              <a:rPr sz="1600" b="1" dirty="0">
                <a:solidFill>
                  <a:srgbClr val="1E50A2"/>
                </a:solidFill>
                <a:latin typeface="Calibri"/>
              </a:rPr>
              <a:t>:</a:t>
            </a:r>
          </a:p>
          <a:p>
            <a:pPr>
              <a:spcBef>
                <a:spcPts val="500"/>
              </a:spcBef>
            </a:pPr>
            <a:r>
              <a:rPr sz="1600" b="0" dirty="0">
                <a:solidFill>
                  <a:srgbClr val="323232"/>
                </a:solidFill>
                <a:latin typeface="Calibri"/>
              </a:rPr>
              <a:t>  •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Tanfolyam</a:t>
            </a:r>
            <a:r>
              <a:rPr lang="hu-HU" sz="1600" b="0" dirty="0">
                <a:solidFill>
                  <a:srgbClr val="323232"/>
                </a:solidFill>
                <a:latin typeface="Calibri"/>
              </a:rPr>
              <a:t> iránt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érdeklődők</a:t>
            </a:r>
            <a:endParaRPr sz="1600" b="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600" b="0" dirty="0">
                <a:solidFill>
                  <a:srgbClr val="323232"/>
                </a:solidFill>
                <a:latin typeface="Calibri"/>
              </a:rPr>
              <a:t>  • 18</a:t>
            </a:r>
            <a:r>
              <a:rPr lang="hu-HU" sz="1600" b="0" dirty="0">
                <a:solidFill>
                  <a:srgbClr val="323232"/>
                </a:solidFill>
                <a:latin typeface="Calibri"/>
              </a:rPr>
              <a:t> feletti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korosztály</a:t>
            </a:r>
            <a:endParaRPr sz="1600" b="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600" b="0" dirty="0">
                <a:solidFill>
                  <a:srgbClr val="323232"/>
                </a:solidFill>
                <a:latin typeface="Calibri"/>
              </a:rPr>
              <a:t>  •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Alap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digitális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ismeretekkel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rendelkezők</a:t>
            </a:r>
            <a:endParaRPr sz="1600" b="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endParaRPr sz="1600" b="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600" b="1" dirty="0">
                <a:solidFill>
                  <a:srgbClr val="1E50A2"/>
                </a:solidFill>
                <a:latin typeface="Calibri"/>
              </a:rPr>
              <a:t>Admin </a:t>
            </a:r>
            <a:r>
              <a:rPr sz="1600" b="1" dirty="0" err="1">
                <a:solidFill>
                  <a:srgbClr val="1E50A2"/>
                </a:solidFill>
                <a:latin typeface="Calibri"/>
              </a:rPr>
              <a:t>felhasználók</a:t>
            </a:r>
            <a:r>
              <a:rPr sz="1600" b="1" dirty="0">
                <a:solidFill>
                  <a:srgbClr val="1E50A2"/>
                </a:solidFill>
                <a:latin typeface="Calibri"/>
              </a:rPr>
              <a:t>:</a:t>
            </a:r>
          </a:p>
          <a:p>
            <a:pPr>
              <a:spcBef>
                <a:spcPts val="500"/>
              </a:spcBef>
            </a:pPr>
            <a:r>
              <a:rPr sz="1600" b="0" dirty="0">
                <a:solidFill>
                  <a:srgbClr val="323232"/>
                </a:solidFill>
                <a:latin typeface="Calibri"/>
              </a:rPr>
              <a:t>  • Az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iskola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23232"/>
                </a:solidFill>
                <a:latin typeface="Calibri"/>
              </a:rPr>
              <a:t>titkársága</a:t>
            </a:r>
            <a:r>
              <a:rPr sz="1600" b="0" dirty="0">
                <a:solidFill>
                  <a:srgbClr val="323232"/>
                </a:solidFill>
                <a:latin typeface="Calibri"/>
              </a:rPr>
              <a:t> </a:t>
            </a:r>
            <a:endParaRPr lang="hu-HU" sz="1600" b="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lang="hu-HU" sz="1600" b="0" dirty="0">
                <a:solidFill>
                  <a:srgbClr val="323232"/>
                </a:solidFill>
                <a:latin typeface="Calibri"/>
              </a:rPr>
              <a:t>  • Jelszóval védett hozzáférés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143000"/>
            <a:ext cx="36576" cy="5120640"/>
          </a:xfrm>
          <a:prstGeom prst="rect">
            <a:avLst/>
          </a:prstGeom>
          <a:solidFill>
            <a:srgbClr val="DC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 három elérhető tanfolyam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Tanfolyam neve (knev)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Azonosító (kid)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Óraszám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Szint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Digitális alapok – Teljesen nulláról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 óra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Kezdő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Digitális alapok – Mindennapi internethasználat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 óra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Alapszint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Digitális alapok – Tudatos és biztonságos internet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80 óra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Középhaladó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83280"/>
            <a:ext cx="114300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Minden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tanfolyamhoz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több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csoport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(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csoportok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tábla</a:t>
            </a:r>
            <a:r>
              <a:rPr sz="1600" dirty="0">
                <a:solidFill>
                  <a:srgbClr val="323232"/>
                </a:solidFill>
                <a:latin typeface="Calibri"/>
              </a:rPr>
              <a:t>) is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indulhat</a:t>
            </a:r>
            <a:r>
              <a:rPr sz="1600" dirty="0">
                <a:solidFill>
                  <a:srgbClr val="323232"/>
                </a:solidFill>
                <a:latin typeface="Calibri"/>
              </a:rPr>
              <a:t>,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különböző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időpontokban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és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helyszíneken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.</a:t>
            </a:r>
          </a:p>
          <a:p>
            <a:pPr>
              <a:spcBef>
                <a:spcPts val="7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A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három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képzés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fix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adatként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szerepel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az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adatbázis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k</a:t>
            </a:r>
            <a:r>
              <a:rPr lang="hu-HU" sz="1600" dirty="0">
                <a:solidFill>
                  <a:srgbClr val="323232"/>
                </a:solidFill>
                <a:latin typeface="Calibri"/>
              </a:rPr>
              <a:t>é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pz</a:t>
            </a:r>
            <a:r>
              <a:rPr lang="hu-HU" sz="1600" dirty="0">
                <a:solidFill>
                  <a:srgbClr val="323232"/>
                </a:solidFill>
                <a:latin typeface="Calibri"/>
              </a:rPr>
              <a:t>é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sek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táblájában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(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nem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módosítható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admin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felületen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keresztül</a:t>
            </a:r>
            <a:r>
              <a:rPr sz="1600" dirty="0">
                <a:solidFill>
                  <a:srgbClr val="323232"/>
                </a:solidFill>
                <a:latin typeface="Calibri"/>
              </a:rPr>
              <a:t>).</a:t>
            </a:r>
          </a:p>
          <a:p>
            <a:pPr>
              <a:spcBef>
                <a:spcPts val="700"/>
              </a:spcBef>
            </a:pPr>
            <a:r>
              <a:rPr sz="1600" dirty="0">
                <a:solidFill>
                  <a:srgbClr val="323232"/>
                </a:solidFill>
                <a:latin typeface="Calibri"/>
              </a:rPr>
              <a:t>▸  Az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alkalmazás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minden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tanfolyamhoz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külön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részletes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leíró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oldalt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23232"/>
                </a:solidFill>
                <a:latin typeface="Calibri"/>
              </a:rPr>
              <a:t>tartalmaz</a:t>
            </a:r>
            <a:r>
              <a:rPr sz="1600" dirty="0">
                <a:solidFill>
                  <a:srgbClr val="323232"/>
                </a:solidFill>
                <a:latin typeface="Calibri"/>
              </a:rPr>
              <a:t> (nullarol.html, mindennapi.html, biztonsagos.html).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2. Alkalmazott technológiák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Backend, Frontend, Adatbázis, Eszközök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Backend technológiák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474720" cy="54864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E50A2"/>
                </a:solidFill>
                <a:latin typeface="Calibri"/>
              </a:rPr>
              <a:t>Node.js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234440"/>
            <a:ext cx="8046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323232"/>
                </a:solidFill>
                <a:latin typeface="Calibri"/>
              </a:rPr>
              <a:t>JavaScript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futtatókörnyezet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szerver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oldalon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93392"/>
            <a:ext cx="3474720" cy="54864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E50A2"/>
                </a:solidFill>
                <a:latin typeface="Calibri"/>
              </a:rPr>
              <a:t>Express.js  ^4.17.2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323232"/>
                </a:solidFill>
                <a:latin typeface="Calibri"/>
              </a:rPr>
              <a:t>Minimális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rugalmas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web-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keretrendszer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REST API-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hoz</a:t>
            </a:r>
            <a:endParaRPr sz="1500" b="0" i="0" dirty="0">
              <a:solidFill>
                <a:srgbClr val="323232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798064"/>
            <a:ext cx="3474720" cy="54864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E50A2"/>
                </a:solidFill>
                <a:latin typeface="Calibri"/>
              </a:rPr>
              <a:t>better-sqlite3  ^11.10.0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843784"/>
            <a:ext cx="8046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323232"/>
                </a:solidFill>
                <a:latin typeface="Calibri"/>
              </a:rPr>
              <a:t>Szinkron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SQLite3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kliens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–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egysz</a:t>
            </a:r>
            <a:r>
              <a:rPr lang="hu-HU" sz="1500" b="0" i="0" dirty="0" err="1">
                <a:solidFill>
                  <a:srgbClr val="323232"/>
                </a:solidFill>
                <a:latin typeface="Calibri"/>
              </a:rPr>
              <a:t>erű</a:t>
            </a:r>
            <a:r>
              <a:rPr lang="hu-HU" sz="150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02736"/>
            <a:ext cx="3474720" cy="54864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E50A2"/>
                </a:solidFill>
                <a:latin typeface="Calibri"/>
              </a:rPr>
              <a:t>bcrypt  ^5.0.1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648456"/>
            <a:ext cx="8046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323232"/>
                </a:solidFill>
                <a:latin typeface="Calibri"/>
              </a:rPr>
              <a:t>Jelszó-hashelés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07408"/>
            <a:ext cx="3474720" cy="54864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E50A2"/>
                </a:solidFill>
                <a:latin typeface="Calibri"/>
              </a:rPr>
              <a:t>jsonwebtoken  ^8.5.1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453128"/>
            <a:ext cx="8046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323232"/>
                </a:solidFill>
                <a:latin typeface="Calibri"/>
              </a:rPr>
              <a:t>JWT token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generálás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és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ellenőrzés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12080"/>
            <a:ext cx="3474720" cy="54864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E50A2"/>
                </a:solidFill>
                <a:latin typeface="Calibri"/>
              </a:rPr>
              <a:t>dotenv  ^10.0.0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2578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23232"/>
                </a:solidFill>
                <a:latin typeface="Calibri"/>
              </a:rPr>
              <a:t>Környezeti változók betöltése .env fájlból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Frontend technológiák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20040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HTML5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252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3232"/>
                </a:solidFill>
                <a:latin typeface="Calibri"/>
              </a:rPr>
              <a:t>Szemantikus jelölőnyelv az oldalszerkezethez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CSS3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29384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323232"/>
                </a:solidFill>
                <a:latin typeface="Calibri"/>
              </a:rPr>
              <a:t>Egyedi</a:t>
            </a:r>
            <a:r>
              <a:rPr sz="14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23232"/>
                </a:solidFill>
                <a:latin typeface="Calibri"/>
              </a:rPr>
              <a:t>stílusok</a:t>
            </a:r>
            <a:r>
              <a:rPr sz="1400" b="0" i="0" dirty="0">
                <a:solidFill>
                  <a:srgbClr val="323232"/>
                </a:solidFill>
                <a:latin typeface="Calibri"/>
              </a:rPr>
              <a:t> (styles.css), CSS </a:t>
            </a:r>
            <a:r>
              <a:rPr sz="1400" b="0" i="0" dirty="0" err="1">
                <a:solidFill>
                  <a:srgbClr val="323232"/>
                </a:solidFill>
                <a:latin typeface="Calibri"/>
              </a:rPr>
              <a:t>változók</a:t>
            </a:r>
            <a:r>
              <a:rPr sz="1400" b="0" i="0" dirty="0">
                <a:solidFill>
                  <a:srgbClr val="323232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323232"/>
                </a:solidFill>
                <a:latin typeface="Calibri"/>
              </a:rPr>
              <a:t>animációk</a:t>
            </a:r>
            <a:endParaRPr sz="1400" b="0" i="0" dirty="0">
              <a:solidFill>
                <a:srgbClr val="323232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542032"/>
            <a:ext cx="320040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Vanilla JavaScript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606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3232"/>
                </a:solidFill>
                <a:latin typeface="Calibri"/>
              </a:rPr>
              <a:t>Natív JS – külső keretrendszer (React/Vue/Angular) nélkül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18687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Bootstrap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282695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323232"/>
                </a:solidFill>
                <a:latin typeface="Calibri"/>
              </a:rPr>
              <a:t>Reszponzív</a:t>
            </a:r>
            <a:r>
              <a:rPr sz="14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23232"/>
                </a:solidFill>
                <a:latin typeface="Calibri"/>
              </a:rPr>
              <a:t>rácsrendszer</a:t>
            </a:r>
            <a:r>
              <a:rPr sz="1400" b="0" i="0" dirty="0">
                <a:solidFill>
                  <a:srgbClr val="323232"/>
                </a:solidFill>
                <a:latin typeface="Calibri"/>
              </a:rPr>
              <a:t>, UI </a:t>
            </a:r>
            <a:r>
              <a:rPr sz="1400" b="0" i="0" dirty="0" err="1">
                <a:solidFill>
                  <a:srgbClr val="323232"/>
                </a:solidFill>
                <a:latin typeface="Calibri"/>
              </a:rPr>
              <a:t>komponensek</a:t>
            </a:r>
            <a:r>
              <a:rPr sz="1400" b="0" i="0" dirty="0">
                <a:solidFill>
                  <a:srgbClr val="323232"/>
                </a:solidFill>
                <a:latin typeface="Calibri"/>
              </a:rPr>
              <a:t>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95344"/>
            <a:ext cx="320040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Fetch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95935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3232"/>
                </a:solidFill>
                <a:latin typeface="Calibri"/>
              </a:rPr>
              <a:t>Aszinkron HTTP kommunikáció a backend REST API-val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572000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sessionStorage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63600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3232"/>
                </a:solidFill>
                <a:latin typeface="Calibri"/>
              </a:rPr>
              <a:t>JWT token ideiglenes tárolása a böngészőben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248655"/>
            <a:ext cx="320040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Bootstrap Bundle 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312664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23232"/>
                </a:solidFill>
                <a:latin typeface="Calibri"/>
              </a:rPr>
              <a:t>Bootstrap + Popper.js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Adatbázis és fejlesztési eszközök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39496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🗄️  Adatbázis: SQLite3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37360"/>
            <a:ext cx="5394960" cy="618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>
                <a:solidFill>
                  <a:srgbClr val="323232"/>
                </a:solidFill>
                <a:latin typeface="Calibri"/>
              </a:rPr>
              <a:t>SQLite3 – </a:t>
            </a:r>
            <a:r>
              <a:rPr lang="hu-HU" sz="1500" dirty="0">
                <a:solidFill>
                  <a:srgbClr val="323232"/>
                </a:solidFill>
                <a:latin typeface="Calibri"/>
              </a:rPr>
              <a:t>Visual </a:t>
            </a:r>
            <a:r>
              <a:rPr lang="hu-HU" sz="1500" dirty="0" err="1">
                <a:solidFill>
                  <a:srgbClr val="323232"/>
                </a:solidFill>
                <a:latin typeface="Calibri"/>
              </a:rPr>
              <a:t>Studio</a:t>
            </a:r>
            <a:r>
              <a:rPr lang="hu-HU" sz="1500" dirty="0">
                <a:solidFill>
                  <a:srgbClr val="323232"/>
                </a:solidFill>
                <a:latin typeface="Calibri"/>
              </a:rPr>
              <a:t> kiegészítő </a:t>
            </a:r>
            <a:endParaRPr sz="1500" dirty="0">
              <a:solidFill>
                <a:srgbClr val="1E50A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500" dirty="0" err="1">
                <a:solidFill>
                  <a:srgbClr val="323232"/>
                </a:solidFill>
                <a:latin typeface="Calibri"/>
              </a:rPr>
              <a:t>Fájlnév</a:t>
            </a:r>
            <a:r>
              <a:rPr sz="1500" dirty="0">
                <a:solidFill>
                  <a:srgbClr val="323232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tanfolyamok.db</a:t>
            </a:r>
            <a:endParaRPr sz="1500" dirty="0">
              <a:solidFill>
                <a:srgbClr val="32323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🛠️  Fejlesztési eszközök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394960" cy="179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 dirty="0">
                <a:solidFill>
                  <a:srgbClr val="1E50A2"/>
                </a:solidFill>
                <a:latin typeface="Calibri"/>
              </a:rPr>
              <a:t>Git  – 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Verziókezelés</a:t>
            </a:r>
            <a:r>
              <a:rPr sz="1500" dirty="0">
                <a:solidFill>
                  <a:srgbClr val="323232"/>
                </a:solidFill>
                <a:latin typeface="Calibri"/>
              </a:rPr>
              <a:t>, repository</a:t>
            </a:r>
          </a:p>
          <a:p>
            <a:pPr>
              <a:spcBef>
                <a:spcPts val="500"/>
              </a:spcBef>
            </a:pPr>
            <a:r>
              <a:rPr sz="1500" b="1" dirty="0" err="1">
                <a:solidFill>
                  <a:srgbClr val="1E50A2"/>
                </a:solidFill>
                <a:latin typeface="Calibri"/>
              </a:rPr>
              <a:t>npm</a:t>
            </a:r>
            <a:r>
              <a:rPr sz="1500" b="1" dirty="0">
                <a:solidFill>
                  <a:srgbClr val="1E50A2"/>
                </a:solidFill>
                <a:latin typeface="Calibri"/>
              </a:rPr>
              <a:t>  – 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Csomagkezelő</a:t>
            </a:r>
            <a:r>
              <a:rPr sz="1500" dirty="0">
                <a:solidFill>
                  <a:srgbClr val="323232"/>
                </a:solidFill>
                <a:latin typeface="Calibri"/>
              </a:rPr>
              <a:t> (Node Package Manager)</a:t>
            </a:r>
          </a:p>
          <a:p>
            <a:pPr>
              <a:spcBef>
                <a:spcPts val="500"/>
              </a:spcBef>
            </a:pPr>
            <a:r>
              <a:rPr sz="1500" b="1" dirty="0">
                <a:solidFill>
                  <a:srgbClr val="1E50A2"/>
                </a:solidFill>
                <a:latin typeface="Calibri"/>
              </a:rPr>
              <a:t>VS Code  – 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Kód</a:t>
            </a:r>
            <a:r>
              <a:rPr sz="150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szerkesztő</a:t>
            </a:r>
            <a:endParaRPr sz="15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500" b="1" dirty="0">
                <a:solidFill>
                  <a:srgbClr val="1E50A2"/>
                </a:solidFill>
                <a:latin typeface="Calibri"/>
              </a:rPr>
              <a:t>REST Client  –  </a:t>
            </a:r>
            <a:r>
              <a:rPr sz="1500" dirty="0">
                <a:solidFill>
                  <a:srgbClr val="323232"/>
                </a:solidFill>
                <a:latin typeface="Calibri"/>
              </a:rPr>
              <a:t>VS Code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bővítmény</a:t>
            </a:r>
            <a:r>
              <a:rPr sz="1500" dirty="0">
                <a:solidFill>
                  <a:srgbClr val="323232"/>
                </a:solidFill>
                <a:latin typeface="Calibri"/>
              </a:rPr>
              <a:t>, .http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fájlok</a:t>
            </a:r>
            <a:r>
              <a:rPr sz="150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futtatása</a:t>
            </a:r>
            <a:endParaRPr sz="15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500" b="1" dirty="0">
                <a:solidFill>
                  <a:srgbClr val="1E50A2"/>
                </a:solidFill>
                <a:latin typeface="Calibri"/>
              </a:rPr>
              <a:t>generateHash.js  –  </a:t>
            </a:r>
            <a:r>
              <a:rPr sz="1500" dirty="0">
                <a:solidFill>
                  <a:srgbClr val="323232"/>
                </a:solidFill>
                <a:latin typeface="Calibri"/>
              </a:rPr>
              <a:t>Admin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jelszó</a:t>
            </a:r>
            <a:r>
              <a:rPr sz="150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bcrypt</a:t>
            </a:r>
            <a:r>
              <a:rPr sz="1500" dirty="0">
                <a:solidFill>
                  <a:srgbClr val="323232"/>
                </a:solidFill>
                <a:latin typeface="Calibri"/>
              </a:rPr>
              <a:t> hash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generálás</a:t>
            </a:r>
            <a:endParaRPr sz="15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500" b="1" dirty="0">
                <a:solidFill>
                  <a:srgbClr val="1E50A2"/>
                </a:solidFill>
                <a:latin typeface="Calibri"/>
              </a:rPr>
              <a:t>.http </a:t>
            </a:r>
            <a:r>
              <a:rPr sz="1500" b="1" dirty="0" err="1">
                <a:solidFill>
                  <a:srgbClr val="1E50A2"/>
                </a:solidFill>
                <a:latin typeface="Calibri"/>
              </a:rPr>
              <a:t>fájlok</a:t>
            </a:r>
            <a:r>
              <a:rPr sz="1500" b="1" dirty="0">
                <a:solidFill>
                  <a:srgbClr val="1E50A2"/>
                </a:solidFill>
                <a:latin typeface="Calibri"/>
              </a:rPr>
              <a:t>  –  </a:t>
            </a:r>
            <a:r>
              <a:rPr sz="1500" dirty="0">
                <a:solidFill>
                  <a:srgbClr val="323232"/>
                </a:solidFill>
                <a:latin typeface="Calibri"/>
              </a:rPr>
              <a:t>API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tesztelés</a:t>
            </a:r>
            <a:r>
              <a:rPr sz="1500" dirty="0">
                <a:solidFill>
                  <a:srgbClr val="323232"/>
                </a:solidFill>
                <a:latin typeface="Calibri"/>
              </a:rPr>
              <a:t> (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admin_api.http</a:t>
            </a:r>
            <a:r>
              <a:rPr sz="1500" dirty="0">
                <a:solidFill>
                  <a:srgbClr val="323232"/>
                </a:solidFill>
                <a:latin typeface="Calibri"/>
              </a:rPr>
              <a:t>, </a:t>
            </a:r>
            <a:r>
              <a:rPr sz="1500" dirty="0" err="1">
                <a:solidFill>
                  <a:srgbClr val="323232"/>
                </a:solidFill>
                <a:latin typeface="Calibri"/>
              </a:rPr>
              <a:t>public_api.http</a:t>
            </a:r>
            <a:r>
              <a:rPr sz="1500" dirty="0">
                <a:solidFill>
                  <a:srgbClr val="323232"/>
                </a:solidFill>
                <a:latin typeface="Calibri"/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143000"/>
            <a:ext cx="36576" cy="5120640"/>
          </a:xfrm>
          <a:prstGeom prst="rect">
            <a:avLst/>
          </a:prstGeom>
          <a:solidFill>
            <a:srgbClr val="DC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3. Rendszerarchitektúra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3-rétegű alkalmazás felépítése és adatfolyam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3-rétegű architektúra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200400" cy="256032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E50A2"/>
                </a:solidFill>
                <a:latin typeface="Calibri"/>
              </a:rPr>
              <a:t>Frontend réteg</a:t>
            </a:r>
          </a:p>
          <a:p>
            <a:pPr algn="ctr"/>
            <a:r>
              <a:rPr sz="1400" b="0">
                <a:solidFill>
                  <a:srgbClr val="1E50A2"/>
                </a:solidFill>
                <a:latin typeface="Calibri"/>
              </a:rPr>
              <a:t>HTML + CSS + JS</a:t>
            </a:r>
          </a:p>
          <a:p>
            <a:pPr algn="ctr"/>
            <a:r>
              <a:rPr sz="1400" b="0">
                <a:solidFill>
                  <a:srgbClr val="1E50A2"/>
                </a:solidFill>
                <a:latin typeface="Calibri"/>
              </a:rPr>
              <a:t>Bootstrap 5</a:t>
            </a:r>
          </a:p>
          <a:p>
            <a:pPr algn="ctr"/>
            <a:r>
              <a:rPr sz="1400" b="0">
                <a:solidFill>
                  <a:srgbClr val="1E50A2"/>
                </a:solidFill>
                <a:latin typeface="Calibri"/>
              </a:rPr>
              <a:t>Böngészőben fut</a:t>
            </a:r>
          </a:p>
          <a:p>
            <a:pPr algn="ctr"/>
            <a:r>
              <a:rPr sz="1400" b="0">
                <a:solidFill>
                  <a:srgbClr val="1E50A2"/>
                </a:solidFill>
                <a:latin typeface="Calibri"/>
              </a:rPr>
              <a:t>localhost:5000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554480"/>
            <a:ext cx="3200400" cy="2560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Backend </a:t>
            </a:r>
            <a:r>
              <a:rPr sz="1400" b="1" dirty="0" err="1">
                <a:solidFill>
                  <a:srgbClr val="FFFFFF"/>
                </a:solidFill>
                <a:latin typeface="Calibri"/>
              </a:rPr>
              <a:t>réteg</a:t>
            </a:r>
            <a:endParaRPr sz="1400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FFFFFF"/>
                </a:solidFill>
                <a:latin typeface="Calibri"/>
              </a:rPr>
              <a:t>Node.js + Express.js</a:t>
            </a:r>
          </a:p>
          <a:p>
            <a:pPr algn="ctr"/>
            <a:r>
              <a:rPr sz="1400" b="0" dirty="0">
                <a:solidFill>
                  <a:srgbClr val="FFFFFF"/>
                </a:solidFill>
                <a:latin typeface="Calibri"/>
              </a:rPr>
              <a:t>app.js (REST API)</a:t>
            </a:r>
          </a:p>
          <a:p>
            <a:pPr algn="ctr"/>
            <a:r>
              <a:rPr sz="1400" b="0" dirty="0">
                <a:solidFill>
                  <a:srgbClr val="FFFFFF"/>
                </a:solidFill>
                <a:latin typeface="Calibri"/>
              </a:rPr>
              <a:t>Port: 5000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554480"/>
            <a:ext cx="3200400" cy="25603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Adatbázis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Calibri"/>
              </a:rPr>
              <a:t>réteg</a:t>
            </a:r>
            <a:endParaRPr sz="1400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FFFFFF"/>
                </a:solidFill>
                <a:latin typeface="Calibri"/>
              </a:rPr>
              <a:t>SQLite3</a:t>
            </a:r>
          </a:p>
          <a:p>
            <a:pPr algn="ctr"/>
            <a:r>
              <a:rPr sz="1400" b="0" dirty="0" err="1">
                <a:solidFill>
                  <a:srgbClr val="FFFFFF"/>
                </a:solidFill>
                <a:latin typeface="Calibri"/>
              </a:rPr>
              <a:t>tanfolyamok.db</a:t>
            </a:r>
            <a:endParaRPr sz="1400" b="0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FFFFFF"/>
                </a:solidFill>
                <a:latin typeface="Calibri"/>
              </a:rPr>
              <a:t>3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tábla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Can 9"/>
          <p:cNvSpPr/>
          <p:nvPr/>
        </p:nvSpPr>
        <p:spPr>
          <a:xfrm>
            <a:off x="3703320" y="2761488"/>
            <a:ext cx="731519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n 10"/>
          <p:cNvSpPr/>
          <p:nvPr/>
        </p:nvSpPr>
        <p:spPr>
          <a:xfrm>
            <a:off x="7726679" y="2761488"/>
            <a:ext cx="731520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3320" y="2606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50A2"/>
                </a:solidFill>
                <a:latin typeface="Calibri"/>
              </a:rPr>
              <a:t>HTTP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23232"/>
                </a:solidFill>
                <a:latin typeface="Calibri"/>
              </a:rPr>
              <a:t>REST/JSON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606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50A2"/>
                </a:solidFill>
                <a:latin typeface="Calibri"/>
              </a:rPr>
              <a:t>better-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8346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50A2"/>
                </a:solidFill>
                <a:latin typeface="Calibri"/>
              </a:rPr>
              <a:t>sqlite3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323232"/>
                </a:solidFill>
                <a:latin typeface="Calibri"/>
              </a:rPr>
              <a:t>A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klasszikus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3-rétegű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architektúrát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alkalmazza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az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alkalmazás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. A frontend (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böngészőben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fut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) HTTP/JSON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kéréseket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küld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az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Express.js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backendnek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amely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a better-sqlite3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driveren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keresztül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kommunikál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az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SQLite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adatbázissal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. Az Express a /public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mappát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statikusan</a:t>
            </a:r>
            <a:r>
              <a:rPr sz="1500" b="0" i="0" dirty="0">
                <a:solidFill>
                  <a:srgbClr val="323232"/>
                </a:solidFill>
                <a:latin typeface="Calibri"/>
              </a:rPr>
              <a:t> is </a:t>
            </a:r>
            <a:r>
              <a:rPr sz="1500" b="0" i="0" dirty="0" err="1">
                <a:solidFill>
                  <a:srgbClr val="323232"/>
                </a:solidFill>
                <a:latin typeface="Calibri"/>
              </a:rPr>
              <a:t>kiszolgálja</a:t>
            </a:r>
            <a:r>
              <a:rPr lang="hu-HU" sz="1500" dirty="0">
                <a:solidFill>
                  <a:srgbClr val="323232"/>
                </a:solidFill>
                <a:latin typeface="Calibri"/>
              </a:rPr>
              <a:t>.</a:t>
            </a:r>
            <a:endParaRPr sz="1500" b="0" i="0" dirty="0">
              <a:solidFill>
                <a:srgbClr val="32323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 projekt fájlstruktúrája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512064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Tanfolyamok/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├── app.js              ← Express szerver, összes API végpont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├── generateHash.js     ← Segédprogram bcrypt hash generáláshoz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├── package.json        ← npm konfiguráció, függőségek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├── tanfolyamok.db      ← SQLite adatbázis fájl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├── .env                ← Titkos kulcsok (gitignore-ban!)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├── public/             ← Statikus frontend fájlok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index.html/js       ← Főoldal (tanfolyamok + jelentkezés)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csoportok.html/js   ← Admin: csoportkezelés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jelentkezok.html/js ← Admin: hallgatólista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modosit.html/js     ← Admin: csoport módosítás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jmodosit.html/js    ← Admin: hallgató módosítás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nullarol/mindennapi/biztonsagos.html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admin_help.html     ← Beépített admin súgó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├── styles.css, bootstrap.min.css/js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│   └── img/  (nullarol.jpg, mindennapi.jpg, biztonsag.jpg)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└── tests/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├── admin_api.http, public_api.http  ← API tesztek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├── admin_e2e.md, public_e2e.md      ← E2E tesztek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└── tesztadatok.sql, test_execution_log.xlsx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4. Adatbázis-struktúra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SQLite3 sématerv, táblák és kapcsolatok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Az adatbázis három táblája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Tábla neve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Magyar neve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Leírás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Sorok száma (teszt)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kepzesek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Képzések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 három tanfolyam törzs-adatai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csoportok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Csoportok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Induló tanfolyamcsoportok (időpont, hely, ár)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jelentkezok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Jelentkezők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Hallgatói jelentkezések összes személyes 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46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50A2"/>
                </a:solidFill>
                <a:latin typeface="Calibri"/>
              </a:rPr>
              <a:t>Kapcsolatok (1:N):   kepzesek  →(kid)→  csoportok  →(csid)→  jelentkezok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94760"/>
            <a:ext cx="11430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323232"/>
                </a:solidFill>
                <a:latin typeface="Calibri"/>
              </a:rPr>
              <a:t>▸  Minden képzéshez (kepzesek) több csoport (csoportok) tartozhat – egy-a-többhöz kapcsolat (kid idegen kulcs).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23232"/>
                </a:solidFill>
                <a:latin typeface="Calibri"/>
              </a:rPr>
              <a:t>▸  Minden csoporthoz (csoportok) több hallgató (jelentkezok) tartozhat – egy-a-többhöz kapcsolat (csid idegen kulcs).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23232"/>
                </a:solidFill>
                <a:latin typeface="Calibri"/>
              </a:rPr>
              <a:t>▸  Maximum 8 hallgató jelentkezhet egy csoportba (üzleti szabály, nem DB kényszer).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23232"/>
                </a:solidFill>
                <a:latin typeface="Calibri"/>
              </a:rPr>
              <a:t>▸  Adatbázis-index: idx_csoportok_kid és idx_jelentkezok_csid – gyorsabb JOIN lekérdezések.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Kepzesek és Csoportok táblák – DDL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516636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-- A három tanfolyam törzsadatai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CREATE TABLE IF NOT EXISTS kepzesek (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kid       INTEGER PRIMARY KEY AUTOINCREMENT,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knev      TEXT    NOT NULL,   -- pl. 'Digitális alapok – Nulláról'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oraszam   INTEGER NOT NULL    -- pl. 40 vagy 80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);</a:t>
            </a:r>
          </a:p>
          <a:p>
            <a:pPr algn="l"/>
            <a:endParaRPr sz="12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-- Induló csoportok (időpont, helyszín, ár)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CREATE TABLE IF NOT EXISTS csoportok (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csid      INTEGER PRIMARY KEY AUTOINCREMENT,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kid       INTEGER NOT NULL,   -- FK → kepzesek(kid)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indulas   TEXT    NOT NULL,   -- YYYY-MM-DD formátum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beosztas  TEXT    NOT NULL,   -- pl. 'Sze-Pén 17-20h'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helyszin  TEXT    NOT NULL,   -- pl. '102-es terem'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ar        INTEGER NOT NULL,   -- Ft-ban, pl. 39000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FOREIGN KEY (kid) REFERENCES kepzesek(kid)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);</a:t>
            </a:r>
          </a:p>
          <a:p>
            <a:pPr algn="l"/>
            <a:endParaRPr sz="12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CREATE INDEX IF NOT EXISTS idx_csoportok_kid ON csoportok(kid);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Jelentkezők tábla és kapcsolatok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7498079" cy="457200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CREATE TABLE IF NOT EXISTS jelentkezok (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jid       INTEGER PRIMARY KEY AUTOINCREMENT,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csid      INTEGER NOT NULL,   -- FK → csoportok(csid)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jnev      TEXT    NOT NULL,   -- Jelenlegi név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szulnev   TEXT    DEFAULT NULL, -- Születési név (opcionális)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szulido   TEXT    NOT NULL,   -- Születési dátum YYYY-MM-DD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szulhely  TEXT    NOT NULL,   -- Születési helység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anyjaneve TEXT    NOT NULL,   -- Anyja neve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cim       TEXT    NOT NULL,   -- Lakcím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telefon   TEXT    NOT NULL,   -- Telefonszám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email     TEXT    NOT NULL,   -- E-mail cím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FOREIGN KEY (csid) REFERENCES csoportok(csid)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);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CREATE INDEX IF NOT EXISTS idx_jelentkezok_csid ON jelentkezok(csid);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280160"/>
            <a:ext cx="3840480" cy="82296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kepzesek
[kid PK, knev, oraszam]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2402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23232"/>
                </a:solidFill>
                <a:latin typeface="Calibri"/>
              </a:rPr>
              <a:t>1 :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651760"/>
            <a:ext cx="3840480" cy="82296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csoportok
[csid PK, kid FK, indulas, ...]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3611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23232"/>
                </a:solidFill>
                <a:latin typeface="Calibri"/>
              </a:rPr>
              <a:t>1 : 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4023360"/>
            <a:ext cx="3840480" cy="822960"/>
          </a:xfrm>
          <a:prstGeom prst="rect">
            <a:avLst/>
          </a:prstGeom>
          <a:solidFill>
            <a:srgbClr val="DCE8FF"/>
          </a:solidFill>
          <a:ln w="15240">
            <a:solidFill>
              <a:srgbClr val="1E5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jelentkezok
[jid PK, csid FK, jnev, email, ...]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0" y="2167128"/>
            <a:ext cx="36576" cy="50292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875520" y="3538728"/>
            <a:ext cx="36576" cy="50292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5. Nyilvános felhasználói felület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A látogatók által elérhető oldalak és funkciók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18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Főoldal – index.html felépítése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19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200400" cy="59436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Fejléc / Navbar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252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Logo, iskola neve, smooth-scroll navigáció (3 tanfolyam, Jelentkezés, Adminisztráció)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84248"/>
            <a:ext cx="3200400" cy="59436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Tanfolyamkártya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048255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Kép, rövid leírás, 'Részletek &amp; követelmények' link (nullarol/mindennapi/biztonsagos.html)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79776"/>
            <a:ext cx="3200400" cy="59436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Induló csoportok táblázata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4378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GET /public/csoportok – dinamikusan töltve: Azonosító | Képzés | Indulás | Beosztás | Szabad hely | Ár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75304"/>
            <a:ext cx="3200400" cy="59436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Jelentkezési űrlap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63931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POST /public/jelentkezok – Összes személyes adat, tandíj-checkbox, Jelentkezem gomb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70832"/>
            <a:ext cx="3200400" cy="59436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Admin bejelentkezés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434840"/>
            <a:ext cx="8229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323232"/>
                </a:solidFill>
                <a:latin typeface="Calibri"/>
              </a:rPr>
              <a:t>Jelszódoboz</a:t>
            </a:r>
            <a:r>
              <a:rPr sz="1300" b="0" i="0" dirty="0">
                <a:solidFill>
                  <a:srgbClr val="323232"/>
                </a:solidFill>
                <a:latin typeface="Calibri"/>
              </a:rPr>
              <a:t> + </a:t>
            </a:r>
            <a:r>
              <a:rPr sz="1300" b="0" i="0" dirty="0" err="1">
                <a:solidFill>
                  <a:srgbClr val="323232"/>
                </a:solidFill>
                <a:latin typeface="Calibri"/>
              </a:rPr>
              <a:t>Bejelentkezés</a:t>
            </a:r>
            <a:r>
              <a:rPr sz="1300" b="0" i="0" dirty="0">
                <a:solidFill>
                  <a:srgbClr val="323232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323232"/>
                </a:solidFill>
                <a:latin typeface="Calibri"/>
              </a:rPr>
              <a:t>gomb</a:t>
            </a:r>
            <a:r>
              <a:rPr sz="1300" b="0" i="0" dirty="0">
                <a:solidFill>
                  <a:srgbClr val="323232"/>
                </a:solidFill>
                <a:latin typeface="Calibri"/>
              </a:rPr>
              <a:t>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66359"/>
            <a:ext cx="3200400" cy="59436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Lábléc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2303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Iskola neve, cím, telefonszám, email, navigációs linkek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Tanfolyam-leíró és súgó oldalak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20 /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2237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Fájl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Tanfolyam / Tartalom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Típus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API hívás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nullarol.html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Digitális alapok – Teljesen nulláról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Statikus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Nincs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mindennapi.html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Digitális alapok – Mindennapi internet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Statikus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Nincs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biztonsagos.html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Digitális alapok – Tudatos és biztonságos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Statikus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Nincs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admin_help.html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Admin súgó – útmutató az admin felülethez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Statikus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Nincs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474720"/>
            <a:ext cx="11430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1E50A2"/>
                </a:solidFill>
                <a:latin typeface="Calibri"/>
              </a:rPr>
              <a:t>nullarol.html tartalom:  </a:t>
            </a:r>
            <a:r>
              <a:rPr sz="1400">
                <a:solidFill>
                  <a:srgbClr val="323232"/>
                </a:solidFill>
                <a:latin typeface="Calibri"/>
              </a:rPr>
              <a:t>Internet és böngésző alapok, e-mail kezelés, fiókok és jelszavak, online ügyintézés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1E50A2"/>
                </a:solidFill>
                <a:latin typeface="Calibri"/>
              </a:rPr>
              <a:t>mindennapi.html tartalom:  </a:t>
            </a:r>
            <a:r>
              <a:rPr sz="1400">
                <a:solidFill>
                  <a:srgbClr val="323232"/>
                </a:solidFill>
                <a:latin typeface="Calibri"/>
              </a:rPr>
              <a:t>Okostelefon és laptop együtt, fájlok és fotók, felhő-tárhelyek, hasznos alkalmazások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1E50A2"/>
                </a:solidFill>
                <a:latin typeface="Calibri"/>
              </a:rPr>
              <a:t>biztonsagos.html tartalom:  </a:t>
            </a:r>
            <a:r>
              <a:rPr sz="1400">
                <a:solidFill>
                  <a:srgbClr val="323232"/>
                </a:solidFill>
                <a:latin typeface="Calibri"/>
              </a:rPr>
              <a:t>Átverések felismerése, adatvédelem, kétlépéses azonosítás (2FA), tudatos internethasználat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1E50A2"/>
                </a:solidFill>
                <a:latin typeface="Calibri"/>
              </a:rPr>
              <a:t>admin_help.html tartalom:  </a:t>
            </a:r>
            <a:r>
              <a:rPr sz="1400">
                <a:solidFill>
                  <a:srgbClr val="323232"/>
                </a:solidFill>
                <a:latin typeface="Calibri"/>
              </a:rPr>
              <a:t>Csoportkezelés, hallgatók kezelése, bejelentkezés, kijelentkezés – admin útmutató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Jelentkezési folyamat – Lépésről lépésre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21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783080" cy="1371600"/>
          </a:xfrm>
          <a:prstGeom prst="rect">
            <a:avLst/>
          </a:prstGeom>
          <a:solidFill>
            <a:srgbClr val="DCE8FF"/>
          </a:solidFill>
          <a:ln w="15240">
            <a:solidFill>
              <a:srgbClr val="64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E50A2"/>
                </a:solidFill>
                <a:latin typeface="Calibri"/>
              </a:rPr>
              <a:t>1. Felhasználó</a:t>
            </a:r>
          </a:p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kitölti az</a:t>
            </a:r>
          </a:p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űrlapot</a:t>
            </a:r>
          </a:p>
        </p:txBody>
      </p:sp>
      <p:sp>
        <p:nvSpPr>
          <p:cNvPr id="8" name="Can 7"/>
          <p:cNvSpPr/>
          <p:nvPr/>
        </p:nvSpPr>
        <p:spPr>
          <a:xfrm>
            <a:off x="2148840" y="1801367"/>
            <a:ext cx="182880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331720" y="1188720"/>
            <a:ext cx="1783080" cy="1371600"/>
          </a:xfrm>
          <a:prstGeom prst="rect">
            <a:avLst/>
          </a:prstGeom>
          <a:solidFill>
            <a:srgbClr val="DCE8FF"/>
          </a:solidFill>
          <a:ln w="15240">
            <a:solidFill>
              <a:srgbClr val="64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E50A2"/>
                </a:solidFill>
                <a:latin typeface="Calibri"/>
              </a:rPr>
              <a:t>2. Kattint:</a:t>
            </a:r>
          </a:p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Jelentkezem</a:t>
            </a:r>
          </a:p>
          <a:p>
            <a:pPr algn="ctr"/>
            <a:r>
              <a:rPr sz="1200" b="0">
                <a:solidFill>
                  <a:srgbClr val="1E50A2"/>
                </a:solidFill>
                <a:latin typeface="Calibri"/>
              </a:rPr>
              <a:t>gomb</a:t>
            </a:r>
          </a:p>
        </p:txBody>
      </p:sp>
      <p:sp>
        <p:nvSpPr>
          <p:cNvPr id="10" name="Can 9"/>
          <p:cNvSpPr/>
          <p:nvPr/>
        </p:nvSpPr>
        <p:spPr>
          <a:xfrm>
            <a:off x="4114800" y="1801367"/>
            <a:ext cx="182880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1783080" cy="1371600"/>
          </a:xfrm>
          <a:prstGeom prst="rect">
            <a:avLst/>
          </a:prstGeom>
          <a:solidFill>
            <a:srgbClr val="FBBF24"/>
          </a:solidFill>
          <a:ln w="15240">
            <a:solidFill>
              <a:srgbClr val="64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323232"/>
                </a:solidFill>
                <a:latin typeface="Calibri"/>
              </a:rPr>
              <a:t>3. Kliens-oldali</a:t>
            </a:r>
          </a:p>
          <a:p>
            <a:pPr algn="ctr"/>
            <a:r>
              <a:rPr sz="1200" b="0">
                <a:solidFill>
                  <a:srgbClr val="323232"/>
                </a:solidFill>
                <a:latin typeface="Calibri"/>
              </a:rPr>
              <a:t>validáció</a:t>
            </a:r>
          </a:p>
          <a:p>
            <a:pPr algn="ctr"/>
            <a:r>
              <a:rPr sz="1200" b="0">
                <a:solidFill>
                  <a:srgbClr val="323232"/>
                </a:solidFill>
                <a:latin typeface="Calibri"/>
              </a:rPr>
              <a:t>ellenoriz()</a:t>
            </a:r>
          </a:p>
        </p:txBody>
      </p:sp>
      <p:sp>
        <p:nvSpPr>
          <p:cNvPr id="12" name="Can 11"/>
          <p:cNvSpPr/>
          <p:nvPr/>
        </p:nvSpPr>
        <p:spPr>
          <a:xfrm>
            <a:off x="6080760" y="1801367"/>
            <a:ext cx="182880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188720"/>
            <a:ext cx="1783080" cy="1371600"/>
          </a:xfrm>
          <a:prstGeom prst="rect">
            <a:avLst/>
          </a:prstGeom>
          <a:solidFill>
            <a:srgbClr val="667EEA"/>
          </a:solidFill>
          <a:ln w="15240">
            <a:solidFill>
              <a:srgbClr val="64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4. POST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/public/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jelentkezok</a:t>
            </a:r>
          </a:p>
        </p:txBody>
      </p:sp>
      <p:sp>
        <p:nvSpPr>
          <p:cNvPr id="14" name="Can 13"/>
          <p:cNvSpPr/>
          <p:nvPr/>
        </p:nvSpPr>
        <p:spPr>
          <a:xfrm>
            <a:off x="8046719" y="1801367"/>
            <a:ext cx="182879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1783080" cy="1371600"/>
          </a:xfrm>
          <a:prstGeom prst="rect">
            <a:avLst/>
          </a:prstGeom>
          <a:solidFill>
            <a:srgbClr val="FBBF24"/>
          </a:solidFill>
          <a:ln w="15240">
            <a:solidFill>
              <a:srgbClr val="64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323232"/>
                </a:solidFill>
                <a:latin typeface="Calibri"/>
              </a:rPr>
              <a:t>5. Szerver-oldali</a:t>
            </a:r>
          </a:p>
          <a:p>
            <a:pPr algn="ctr"/>
            <a:r>
              <a:rPr sz="1200" b="0">
                <a:solidFill>
                  <a:srgbClr val="323232"/>
                </a:solidFill>
                <a:latin typeface="Calibri"/>
              </a:rPr>
              <a:t>ellenőrzés</a:t>
            </a:r>
          </a:p>
          <a:p>
            <a:pPr algn="ctr"/>
            <a:r>
              <a:rPr sz="1200" b="0">
                <a:solidFill>
                  <a:srgbClr val="323232"/>
                </a:solidFill>
                <a:latin typeface="Calibri"/>
              </a:rPr>
              <a:t>és validáció</a:t>
            </a:r>
          </a:p>
        </p:txBody>
      </p:sp>
      <p:sp>
        <p:nvSpPr>
          <p:cNvPr id="16" name="Can 15"/>
          <p:cNvSpPr/>
          <p:nvPr/>
        </p:nvSpPr>
        <p:spPr>
          <a:xfrm>
            <a:off x="10012680" y="1801367"/>
            <a:ext cx="182879" cy="146304"/>
          </a:xfrm>
          <a:prstGeom prst="can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195560" y="1188720"/>
            <a:ext cx="1783080" cy="1371600"/>
          </a:xfrm>
          <a:prstGeom prst="rect">
            <a:avLst/>
          </a:prstGeom>
          <a:solidFill>
            <a:srgbClr val="4ADE80"/>
          </a:solidFill>
          <a:ln w="15240">
            <a:solidFill>
              <a:srgbClr val="64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6. 201 Created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Sikeres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jelentkezés!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834640"/>
            <a:ext cx="1783080" cy="731520"/>
          </a:xfrm>
          <a:prstGeom prst="rect">
            <a:avLst/>
          </a:prstGeom>
          <a:solidFill>
            <a:srgbClr val="FFDCDC"/>
          </a:solidFill>
          <a:ln w="15240">
            <a:solidFill>
              <a:srgbClr val="C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B40000"/>
                </a:solidFill>
                <a:latin typeface="Calibri"/>
              </a:rPr>
              <a:t>HIBA:
Hibaüzenet
megjelenik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38928" y="2606040"/>
            <a:ext cx="36576" cy="274320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1783080" cy="731520"/>
          </a:xfrm>
          <a:prstGeom prst="rect">
            <a:avLst/>
          </a:prstGeom>
          <a:solidFill>
            <a:srgbClr val="FFDCDC"/>
          </a:solidFill>
          <a:ln w="15240">
            <a:solidFill>
              <a:srgbClr val="C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B40000"/>
                </a:solidFill>
                <a:latin typeface="Calibri"/>
              </a:rPr>
              <a:t>400/404/409
Hibaüzenet
JSON-ben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2606040"/>
            <a:ext cx="36576" cy="274320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8404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3232"/>
                </a:solidFill>
                <a:latin typeface="Calibri"/>
              </a:rPr>
              <a:t>A validáció kétlépéses: előbb az ellenoriz() JavaScript függvény fut (kor: 18-65 év, mezőhossz, tandíj-checkbox), majd a szerver végzi el saját ellenőrzéseit (csoport létezése, duplikált email, max. 8 fő). Sikeres jelentkezés esetén: 201 Created visszajelzés, a Jelentkezem gomb letiltásra kerül, a csoportlista frissül.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6. Adminisztrációs felület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Csoportok és hallgatók kezelése JWT-vel védett felületen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22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Admin bejelentkezés és oldalstruktúra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23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39496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🔑  Bejelentkezési folyamat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37360"/>
            <a:ext cx="5394960" cy="2264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dirty="0">
                <a:solidFill>
                  <a:srgbClr val="1E50A2"/>
                </a:solidFill>
                <a:latin typeface="Calibri"/>
              </a:rPr>
              <a:t>1. Admin POST /admin → { password }</a:t>
            </a: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1E50A2"/>
                </a:solidFill>
                <a:latin typeface="Calibri"/>
              </a:rPr>
              <a:t>2. </a:t>
            </a:r>
            <a:r>
              <a:rPr lang="hu-HU" sz="1400" dirty="0">
                <a:solidFill>
                  <a:srgbClr val="1E50A2"/>
                </a:solidFill>
                <a:latin typeface="Calibri"/>
              </a:rPr>
              <a:t>Jelszó </a:t>
            </a:r>
            <a:r>
              <a:rPr lang="hu-HU" sz="1400" dirty="0" err="1">
                <a:solidFill>
                  <a:srgbClr val="1E50A2"/>
                </a:solidFill>
                <a:latin typeface="Calibri"/>
              </a:rPr>
              <a:t>hashelés</a:t>
            </a:r>
            <a:endParaRPr sz="1400" dirty="0">
              <a:solidFill>
                <a:srgbClr val="1E50A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1E50A2"/>
                </a:solidFill>
                <a:latin typeface="Calibri"/>
              </a:rPr>
              <a:t>3. </a:t>
            </a:r>
            <a:r>
              <a:rPr sz="1400" dirty="0" err="1">
                <a:solidFill>
                  <a:srgbClr val="1E50A2"/>
                </a:solidFill>
                <a:latin typeface="Calibri"/>
              </a:rPr>
              <a:t>Sikeres</a:t>
            </a:r>
            <a:r>
              <a:rPr sz="1400" dirty="0">
                <a:solidFill>
                  <a:srgbClr val="1E50A2"/>
                </a:solidFill>
                <a:latin typeface="Calibri"/>
              </a:rPr>
              <a:t> → </a:t>
            </a:r>
            <a:r>
              <a:rPr sz="1400" dirty="0" err="1">
                <a:solidFill>
                  <a:srgbClr val="1E50A2"/>
                </a:solidFill>
                <a:latin typeface="Calibri"/>
              </a:rPr>
              <a:t>jwt.sign</a:t>
            </a:r>
            <a:r>
              <a:rPr sz="1400" dirty="0">
                <a:solidFill>
                  <a:srgbClr val="1E50A2"/>
                </a:solidFill>
                <a:latin typeface="Calibri"/>
              </a:rPr>
              <a:t>(...) → token (1 </a:t>
            </a:r>
            <a:r>
              <a:rPr sz="1400" dirty="0" err="1">
                <a:solidFill>
                  <a:srgbClr val="1E50A2"/>
                </a:solidFill>
                <a:latin typeface="Calibri"/>
              </a:rPr>
              <a:t>óra</a:t>
            </a:r>
            <a:r>
              <a:rPr sz="1400" dirty="0">
                <a:solidFill>
                  <a:srgbClr val="1E50A2"/>
                </a:solidFill>
                <a:latin typeface="Calibri"/>
              </a:rPr>
              <a:t>)</a:t>
            </a: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323232"/>
                </a:solidFill>
                <a:latin typeface="Calibri"/>
              </a:rPr>
              <a:t>4. Token →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kliens</a:t>
            </a:r>
            <a:r>
              <a:rPr sz="1400" dirty="0">
                <a:solidFill>
                  <a:srgbClr val="32323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sessionStorage.token</a:t>
            </a:r>
            <a:endParaRPr sz="14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323232"/>
                </a:solidFill>
                <a:latin typeface="Calibri"/>
              </a:rPr>
              <a:t>5.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Átirányítás</a:t>
            </a:r>
            <a:r>
              <a:rPr sz="1400" dirty="0">
                <a:solidFill>
                  <a:srgbClr val="323232"/>
                </a:solidFill>
                <a:latin typeface="Calibri"/>
              </a:rPr>
              <a:t> → csoportok.html</a:t>
            </a: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323232"/>
                </a:solidFill>
                <a:latin typeface="Calibri"/>
              </a:rPr>
              <a:t>6. Minden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kérés</a:t>
            </a:r>
            <a:r>
              <a:rPr sz="1400" dirty="0">
                <a:solidFill>
                  <a:srgbClr val="323232"/>
                </a:solidFill>
                <a:latin typeface="Calibri"/>
              </a:rPr>
              <a:t>: Authorization: Bearer &lt;token&gt;</a:t>
            </a: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323232"/>
                </a:solidFill>
                <a:latin typeface="Calibri"/>
              </a:rPr>
              <a:t>7.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authenticateToken</a:t>
            </a:r>
            <a:r>
              <a:rPr sz="1400" dirty="0">
                <a:solidFill>
                  <a:srgbClr val="323232"/>
                </a:solidFill>
                <a:latin typeface="Calibri"/>
              </a:rPr>
              <a:t>() middleware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ellenőrzi</a:t>
            </a:r>
            <a:endParaRPr sz="1400" dirty="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400" dirty="0">
                <a:solidFill>
                  <a:srgbClr val="323232"/>
                </a:solidFill>
                <a:latin typeface="Calibri"/>
              </a:rPr>
              <a:t>8.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Lejárt</a:t>
            </a:r>
            <a:r>
              <a:rPr sz="1400" dirty="0">
                <a:solidFill>
                  <a:srgbClr val="323232"/>
                </a:solidFill>
                <a:latin typeface="Calibri"/>
              </a:rPr>
              <a:t>/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hibás</a:t>
            </a:r>
            <a:r>
              <a:rPr sz="1400" dirty="0">
                <a:solidFill>
                  <a:srgbClr val="323232"/>
                </a:solidFill>
                <a:latin typeface="Calibri"/>
              </a:rPr>
              <a:t> → 401/403 → </a:t>
            </a:r>
            <a:r>
              <a:rPr sz="1400" dirty="0" err="1">
                <a:solidFill>
                  <a:srgbClr val="323232"/>
                </a:solidFill>
                <a:latin typeface="Calibri"/>
              </a:rPr>
              <a:t>visszairányítás</a:t>
            </a:r>
            <a:endParaRPr sz="1400" dirty="0">
              <a:solidFill>
                <a:srgbClr val="32323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📄  Admin oldalak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 b="1">
                <a:solidFill>
                  <a:srgbClr val="1E50A2"/>
                </a:solidFill>
                <a:latin typeface="Courier New"/>
              </a:rPr>
              <a:t>csoportok.html  </a:t>
            </a:r>
            <a:r>
              <a:rPr sz="1400">
                <a:solidFill>
                  <a:srgbClr val="323232"/>
                </a:solidFill>
                <a:latin typeface="Calibri"/>
              </a:rPr>
              <a:t>Csoportlista + Új csoport hozzáadása</a:t>
            </a:r>
          </a:p>
          <a:p>
            <a:pPr>
              <a:spcBef>
                <a:spcPts val="700"/>
              </a:spcBef>
            </a:pPr>
            <a:r>
              <a:rPr sz="1300" b="1">
                <a:solidFill>
                  <a:srgbClr val="1E50A2"/>
                </a:solidFill>
                <a:latin typeface="Courier New"/>
              </a:rPr>
              <a:t>jelentkezok.html  </a:t>
            </a:r>
            <a:r>
              <a:rPr sz="1400">
                <a:solidFill>
                  <a:srgbClr val="323232"/>
                </a:solidFill>
                <a:latin typeface="Calibri"/>
              </a:rPr>
              <a:t>Egy csoport hallgatóinak listája</a:t>
            </a:r>
          </a:p>
          <a:p>
            <a:pPr>
              <a:spcBef>
                <a:spcPts val="700"/>
              </a:spcBef>
            </a:pPr>
            <a:r>
              <a:rPr sz="1300" b="1">
                <a:solidFill>
                  <a:srgbClr val="1E50A2"/>
                </a:solidFill>
                <a:latin typeface="Courier New"/>
              </a:rPr>
              <a:t>modosit.html  </a:t>
            </a:r>
            <a:r>
              <a:rPr sz="1400">
                <a:solidFill>
                  <a:srgbClr val="323232"/>
                </a:solidFill>
                <a:latin typeface="Calibri"/>
              </a:rPr>
              <a:t>Meglévő csoport módosítása</a:t>
            </a:r>
          </a:p>
          <a:p>
            <a:pPr>
              <a:spcBef>
                <a:spcPts val="700"/>
              </a:spcBef>
            </a:pPr>
            <a:r>
              <a:rPr sz="1300" b="1">
                <a:solidFill>
                  <a:srgbClr val="1E50A2"/>
                </a:solidFill>
                <a:latin typeface="Courier New"/>
              </a:rPr>
              <a:t>jmodosit.html  </a:t>
            </a:r>
            <a:r>
              <a:rPr sz="1400">
                <a:solidFill>
                  <a:srgbClr val="323232"/>
                </a:solidFill>
                <a:latin typeface="Calibri"/>
              </a:rPr>
              <a:t>Hallgató adatainak módosítása</a:t>
            </a:r>
          </a:p>
          <a:p>
            <a:pPr>
              <a:spcBef>
                <a:spcPts val="700"/>
              </a:spcBef>
            </a:pPr>
            <a:r>
              <a:rPr sz="1300" b="1">
                <a:solidFill>
                  <a:srgbClr val="1E50A2"/>
                </a:solidFill>
                <a:latin typeface="Courier New"/>
              </a:rPr>
              <a:t>admin_help.html  </a:t>
            </a:r>
            <a:r>
              <a:rPr sz="1400">
                <a:solidFill>
                  <a:srgbClr val="323232"/>
                </a:solidFill>
                <a:latin typeface="Calibri"/>
              </a:rPr>
              <a:t>Beépített admin súgó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143000"/>
            <a:ext cx="36576" cy="5120640"/>
          </a:xfrm>
          <a:prstGeom prst="rect">
            <a:avLst/>
          </a:prstGeom>
          <a:solidFill>
            <a:srgbClr val="DC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Csoportkezelő admin oldal – csoportok.html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24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20040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Kijelentkezés gomb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252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sessionStorage.token törlése → visszairányítás index.html-re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10512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Admin súgó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87451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admin_help.html megnyitása új böngészőfülön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32304"/>
            <a:ext cx="320040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Új csoport hozzáadása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4963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POST /admin/csoportok – Képzés, Indulás, Beosztás, Helyszín, Ár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54096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Csoportlista táblázat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118103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GET /admin/csoportok – Összes csoport (múlt + jövő) létszámmal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75888"/>
            <a:ext cx="320040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Hallgatók megtekintése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73989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Gomb → jelentkezok.html?csid=X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97680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Csoport módosítása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36168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Gomb → modosit.html?csid=X → PUT /admin/csoportok/:csid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919472"/>
            <a:ext cx="320040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Csoport törlése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983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DELETE /admin/csoportok/:csid + megerősítő confirm() dialógus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41264"/>
            <a:ext cx="320040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Validáció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6052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23232"/>
                </a:solidFill>
                <a:latin typeface="Calibri"/>
              </a:rPr>
              <a:t>Kötelező mezők, ar &gt;= 0, érvényes kid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Hallgatókezelő admin oldalak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25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39496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📋  jelentkezok.html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3736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← Vissza a csoportokhoz gomb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Csoport azonosítója és neve megjelenítve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Aktuális létszám (pl. 3 / 8 fő)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Hallgatólista (GET /admin/lista/:csid):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  Név | Szül.nev | Szül.idő | Szül.hely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  Anyja neve | Cím | Telefon | Email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  Módosítás / Törlés gombok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Új hallgató hozzáadása (POST /public/jelentkezok)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✏️  jmodosit.html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Hallgató adatainak szerkesztése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GET /admin/jelentkezok/:jid (adat betöltése)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PUT /admin/jelentkezok/:jid (mentés)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Módosítható mezők: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  csid, jnev, szulnev, szulido,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  szulhely, anyjaneve, cim, telefon, email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Sikeres mentés → visszairányít jelentkezok.html-re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23232"/>
                </a:solidFill>
                <a:latin typeface="Calibri"/>
              </a:rPr>
              <a:t>'Vissza' gomb → mentés nélkül visszalép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143000"/>
            <a:ext cx="36576" cy="5120640"/>
          </a:xfrm>
          <a:prstGeom prst="rect">
            <a:avLst/>
          </a:prstGeom>
          <a:solidFill>
            <a:srgbClr val="DC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7–8. Backend API végpontok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Publikus és admin REST API – összesen 12 végpont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26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Publikus API végpontok (nincs autentikáció)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27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219456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GET /public/csoportok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Cél:    Jövőbeli csoportok listája aktuális létszámmal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Auth:   Nem szükséges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SQL:    kepzesek JOIN csoportok LEFT JOIN jelentkezok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      WHERE csoportok.indulas &gt;= date('now')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      GROUP BY csoportok.csid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Válasz: 200 OK – JSON tömb: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      [{ csid, knev, indulas, beosztas, ar, letszam }]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      500 – Adatbázis hiba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11612880" cy="274320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POST /public/jelentkezok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Cél:  Új jelentkező rögzítése egy csoportba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Auth: Nem szükséges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Body: { csid, jnev, szulnev?, szulido, szulhely,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      anyjaneve, cim, telefon, email }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Ellenőrzések (sorban):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1. Kötelező mezők megléte        → 400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2. Csoport létezése és indulása  → 404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3. Duplikált email a csoportban  → 409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4. Max 8 fő ellenőrzése          → 409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Válasz: 201 Created – { message, jid, changes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Admin API – Csoportok kezelése (JWT szükséges)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28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512064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POST   /admin                         ← Bejelentkezés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Body: { password }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{ token, message }  |  401: Hibás jelszó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GET    /admin/csoportok               ← Összes csoport listája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[{ csid, knev, indulas, beosztas, helyszin, ar, letszam }]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POST   /admin/csoportok               ← Új csoport létrehozása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Body: { kid, indulas, beosztas, helyszin, ar }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201: { id, changes }  |  400: hiányzó/érvénytelen adatok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GET    /admin/csoportok/:csid         ← Egy csoport lekérése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csoport adatai  |  404: nem található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PUT    /admin/csoportok/:csid         ← Csoport módosítása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{ changes }  |  400  |  404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DELETE /admin/csoportok/:csid         ← Csoport törlése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  |  400: hallgató van  |  404: nem létezik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Admin API – Hallgatók és lista kezelése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29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512064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GET    /admin/lista/:csid             ← Egy csoport jelentkezői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SELECT * FROM jelentkezok WHERE csid=? ORDER BY jnev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[{ jid, jnev, szulnev, szulido, ... }]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404: csoport nem létezik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GET    /admin/jelentkezok/:jid        ← Egy hallgató adatai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hallgató összes adata  |  404: nem található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PUT    /admin/jelentkezok/:jid        ← Hallgató módosítása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Body: { csid, jnev, szulnev, szulido, szulhely,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       anyjaneve, cim, telefon, email }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{ changes }  |  400: hiányzó mezők  |  404: nem találh.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DELETE /admin/jelentkezok/:jid        ← Hallgató törlése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200: { changes }  |  404: nem található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Összesen: 2 publikus + 10 admin = 12 REST API végpont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HTTP státuszkódok: 200, 201, 400, 401, 403, 404, 409, 500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59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9. Biztonsági megoldások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4C8F0"/>
                </a:solidFill>
                <a:latin typeface="Calibri"/>
              </a:rPr>
              <a:t>Authentikáció, titkosítás és védelmi rétegek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30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Biztonsági megoldások – 4 réteg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31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394960" cy="2286000"/>
          </a:xfrm>
          <a:prstGeom prst="rect">
            <a:avLst/>
          </a:prstGeom>
          <a:solidFill>
            <a:srgbClr val="1E50A2"/>
          </a:solidFill>
          <a:ln w="15240"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bcrypt jelszóhash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Jelszó soha nem tárolódik tisztán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Cost factor: 10 (~100ms/hash)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Minden hashben egyedi salt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Összehasonlítás: bcrypt.compareSync()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188720"/>
            <a:ext cx="5394960" cy="2286000"/>
          </a:xfrm>
          <a:prstGeom prst="rect">
            <a:avLst/>
          </a:prstGeom>
          <a:solidFill>
            <a:srgbClr val="0F285A"/>
          </a:solidFill>
          <a:ln w="15240"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JWT Token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autentikáció</a:t>
            </a:r>
            <a:endParaRPr sz="1300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300" b="0" dirty="0">
                <a:solidFill>
                  <a:srgbClr val="FFFFFF"/>
                </a:solidFill>
                <a:latin typeface="Calibri"/>
              </a:rPr>
              <a:t>Token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lejárat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: 3600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mp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(1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óra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)</a:t>
            </a:r>
          </a:p>
          <a:p>
            <a:pPr algn="ctr"/>
            <a:r>
              <a:rPr sz="1300" b="0" dirty="0" err="1">
                <a:solidFill>
                  <a:srgbClr val="FFFFFF"/>
                </a:solidFill>
                <a:latin typeface="Calibri"/>
              </a:rPr>
              <a:t>Titkos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kulcs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: .env TOKEN_SECRET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0"/>
            <a:ext cx="5394960" cy="2286000"/>
          </a:xfrm>
          <a:prstGeom prst="rect">
            <a:avLst/>
          </a:prstGeom>
          <a:solidFill>
            <a:srgbClr val="667EEA"/>
          </a:solidFill>
          <a:ln w="15240"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SQL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paraméter-kötés</a:t>
            </a:r>
            <a:endParaRPr sz="1300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300" b="0" dirty="0" err="1">
                <a:solidFill>
                  <a:srgbClr val="FFFFFF"/>
                </a:solidFill>
                <a:latin typeface="Calibri"/>
              </a:rPr>
              <a:t>db.prepare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() +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stmt.run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()</a:t>
            </a:r>
          </a:p>
          <a:p>
            <a:pPr algn="ctr"/>
            <a:r>
              <a:rPr sz="1300" b="0" dirty="0">
                <a:solidFill>
                  <a:srgbClr val="FFFFFF"/>
                </a:solidFill>
                <a:latin typeface="Calibri"/>
              </a:rPr>
              <a:t>SQL injection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elleni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védelem</a:t>
            </a:r>
            <a:endParaRPr sz="1300" b="0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300" b="0" dirty="0">
                <a:solidFill>
                  <a:srgbClr val="FFFFFF"/>
                </a:solidFill>
                <a:latin typeface="Calibri"/>
              </a:rPr>
              <a:t>better-sqlite3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beépített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feature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3657600"/>
            <a:ext cx="5394960" cy="2286000"/>
          </a:xfrm>
          <a:prstGeom prst="rect">
            <a:avLst/>
          </a:prstGeom>
          <a:solidFill>
            <a:srgbClr val="28643C"/>
          </a:solidFill>
          <a:ln w="15240"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Környezeti változók (.env)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ADMIN = bcrypt hash az admin jelszóról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TOKEN_SECRET = JWT titkos kulcs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dotenv csomag tölti be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.env NINCS verziókezelőben!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JWT és bcrypt technikai részletek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32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39496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🔐  JWT authentikációs folyamat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394960" cy="457200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// 1. Admin bejelentkezés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const valid = bcrypt.compareSync(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req.body.password, process.env.ADMIN);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// 2. Token generálás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const token = jwt.sign(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{ password: req.body.password },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process.env.TOKEN_SECRET,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{ expiresIn: 3600 }  // 1 óra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);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// 3. Middleware ellenőrzés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function authenticateToken(req, res, next) {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const token = req.headers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 .authorization?.split(' ')[1];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jwt.verify(token, TOKEN_SECRET, cb);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143000"/>
            <a:ext cx="539496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🔒  bcrypt részletek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Hash formátuma: $2b$10$...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  (60 karakter hosszú)</a:t>
            </a:r>
          </a:p>
          <a:p>
            <a:pPr>
              <a:spcBef>
                <a:spcPts val="300"/>
              </a:spcBef>
            </a:pPr>
            <a:endParaRPr sz="1300">
              <a:solidFill>
                <a:srgbClr val="98C379"/>
              </a:solidFill>
              <a:latin typeface="Courier New"/>
            </a:endParaRP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10 iterációs kör = ~100ms/hash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  → Brute-force védelmet nyújt</a:t>
            </a:r>
          </a:p>
          <a:p>
            <a:pPr>
              <a:spcBef>
                <a:spcPts val="300"/>
              </a:spcBef>
            </a:pPr>
            <a:endParaRPr sz="130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Minden hashben egyedi salt beépítve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  → Azonos jelszóból ≠ hash</a:t>
            </a:r>
          </a:p>
          <a:p>
            <a:pPr>
              <a:spcBef>
                <a:spcPts val="300"/>
              </a:spcBef>
            </a:pPr>
            <a:endParaRPr sz="130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generateHash.js segédeszköz: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  node generateHash.js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  → Kiírja a hash-t .env-be</a:t>
            </a:r>
          </a:p>
          <a:p>
            <a:pPr>
              <a:spcBef>
                <a:spcPts val="300"/>
              </a:spcBef>
            </a:pPr>
            <a:endParaRPr sz="1300">
              <a:solidFill>
                <a:srgbClr val="323232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Összehasonlítás: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8C379"/>
                </a:solidFill>
                <a:latin typeface="Courier New"/>
              </a:rPr>
              <a:t>  bcrypt.compareSync(plain, hash)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143000"/>
            <a:ext cx="36576" cy="5120640"/>
          </a:xfrm>
          <a:prstGeom prst="rect">
            <a:avLst/>
          </a:prstGeom>
          <a:solidFill>
            <a:srgbClr val="DC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Kliens-oldali validáció – ellenoriz() függvény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33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512064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function ellenoriz() {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let nev = document.getElementById('jnev').value.trim();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if (nev.length &lt; 5 || nev.length &gt; 60)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return 'Hibás név! (5-60 karakter lehet)';</a:t>
            </a:r>
          </a:p>
          <a:p>
            <a:pPr algn="l"/>
            <a:endParaRPr sz="12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let d = document.getElementById('szulido').value;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if (d == '') return 'Add meg a születési időt!';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let szev = parseInt(d.substring(0, 4));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let ev = new Date().getFullYear();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if (szev &gt;= ev - 18 || szev &lt;= ev - 65)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return 'Hibás születési idő! (18-65 év közötti lehetsz)';</a:t>
            </a:r>
          </a:p>
          <a:p>
            <a:pPr algn="l"/>
            <a:endParaRPr sz="12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let cim = document.getElementById('cim').value.trim();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if (cim.length &lt; 15 || cim.length &gt; 80)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return 'Hibás cím! (15-80 karakter)';</a:t>
            </a:r>
          </a:p>
          <a:p>
            <a:pPr algn="l"/>
            <a:endParaRPr sz="12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if (!document.getElementById('tandij').checked)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  return 'Kérjük, fogadja el a fizetési feltételt!';</a:t>
            </a:r>
          </a:p>
          <a:p>
            <a:pPr algn="l"/>
            <a:endParaRPr sz="12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  return '';  // üres string = sikeres validáció</a:t>
            </a:r>
          </a:p>
          <a:p>
            <a:pPr algn="l"/>
            <a:r>
              <a:rPr sz="120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Szerver-oldali validáció és hibakezelés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34 /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88720"/>
          <a:ext cx="11430000" cy="3528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Ellenőrzés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Feltétel / Query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HTTP kód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Hibaüzenet</a:t>
                      </a:r>
                    </a:p>
                  </a:txBody>
                  <a:tcPr>
                    <a:solidFill>
                      <a:srgbClr val="667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Kötelező mezők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Bármelyik hiányzik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Hiányzó kötelező mezők.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Csoport létezése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indulas &gt;= date('now')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Ebbe a csoportba nem lehet...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Duplikált 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SELECT jid WHERE csid=? AND email=?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Ezzel az e-mail...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Max létszám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SELECT COUNT(jid) WHERE csid=? → &gt;= 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 csoport megtelt...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Negatív ár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ar &lt;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Az ár nem lehet negatív.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FK kényszer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SQLITE_CONSTRAINT_FOREIGNKEY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Érvénytelen azonosító.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Adatbázis hiba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try-catch blokk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23232"/>
                          </a:solidFill>
                        </a:rPr>
                        <a:t>Adatbázis hiba történt.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23232"/>
                </a:solidFill>
                <a:latin typeface="Calibri"/>
              </a:rPr>
              <a:t>▸  A szerver-oldali validáció minden kritikus üzleti szabályt lefed, és az API közvetlen hívásával (pl. Postman) sem kerülhető meg. A duplikált email és a létszámlimit külön SELECT lekérdezéssel ellenőrzött, mielőtt az INSERT megtörténne (race condition ellen).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Tesztelési módszerek – API és E2E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35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474720" cy="502920"/>
          </a:xfrm>
          <a:prstGeom prst="rect">
            <a:avLst/>
          </a:prstGeom>
          <a:solidFill>
            <a:srgbClr val="0F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🔌  API tesztek (.http)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3736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admin_api.http: 10+ admin végpont teszt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public_api.http: publikus végpont tesztek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VS Code REST Client bővítménnyel futtatható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Minden CRUD művelet le van fedve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Token kezelés: @token változó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43000"/>
            <a:ext cx="3474720" cy="50292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🖥️  E2E tesztek (manuális)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73736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admin_e2e.md: ADM_TC_001 – ADM_TC_027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  → 27 admin teszteset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public_e2e.md: TC_PUB_001 – TC_PUB_024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  → 24 publikus teszteset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Chrome inkognito módban futtatva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Eredmény: test_execution_log.xlsx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143000"/>
            <a:ext cx="3474720" cy="5029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📊  Teszt adatok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73736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tesztadatok.sql betöltve: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  3 képzés, 5 csoport, 21 hallgató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Teli csoport: csid=3 (8 fő)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Múltbeli csoport: csid=1 (2024-09-08)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Jövőbeli csoport: csid=5 (2026-09-10)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323232"/>
                </a:solidFill>
                <a:latin typeface="Calibri"/>
              </a:rPr>
              <a:t>Összesen: 51 teszteset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320040"/>
            <a:ext cx="11731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50A2"/>
                </a:solidFill>
                <a:latin typeface="Calibri"/>
              </a:rPr>
              <a:t>Az alkalmazás telepítése és indítása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5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6400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Tanfolyamok – Pogány Frigyes Technikum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0152" y="64008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36 / 37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5120640"/>
          </a:xfrm>
          <a:prstGeom prst="rect">
            <a:avLst/>
          </a:prstGeom>
          <a:solidFill>
            <a:srgbClr val="282C34"/>
          </a:solidFill>
          <a:ln w="12700">
            <a:solidFill>
              <a:srgbClr val="46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# 1. Klónozd a repository-t: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git clone &lt;repo-url&gt;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cd Tanfolyamok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# 2. Telepítsd a függőségeket: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npm install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# Telepíti: express, better-sqlite3, bcrypt, jsonwebtoken, dotenv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# 3. Generáld az admin jelszó bcrypt hash-t: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node generateHash.js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# → Megadod a jelszót → kiírja a $2b$10$... hash-t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# 4. Hozd létre a .env fájlt a gyökérkönyvtárban: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ADMIN="$2b$10$..."       ← bcrypt hash (generateHash.js output)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TOKEN_SECRET="titkos"   ← JWT titkos kulcs (hosszú, random string!)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# 5. Töltsd be a teszt adatokat (opcionális):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sqlite3 tanfolyamok.db &lt; tests/tesztadatok.sql</a:t>
            </a:r>
          </a:p>
          <a:p>
            <a:pPr algn="l"/>
            <a:endParaRPr sz="1100">
              <a:solidFill>
                <a:srgbClr val="98C379"/>
              </a:solidFill>
              <a:latin typeface="Courier New"/>
            </a:endParaRP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# 6. Indítsd el a szervert: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node app.js</a:t>
            </a:r>
          </a:p>
          <a:p>
            <a:pPr algn="l"/>
            <a:r>
              <a:rPr sz="1100">
                <a:solidFill>
                  <a:srgbClr val="98C379"/>
                </a:solidFill>
                <a:latin typeface="Courier New"/>
              </a:rPr>
              <a:t>   # → Server running at http://localhost:5000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8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15568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Összefoglalás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Teljes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körű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webalkalmazás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digitális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tanfolyam-kezelésre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3-rétegű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architektúra</a:t>
            </a:r>
            <a:r>
              <a:rPr sz="1800" dirty="0">
                <a:solidFill>
                  <a:srgbClr val="FFFFFF"/>
                </a:solidFill>
                <a:latin typeface="Calibri"/>
              </a:rPr>
              <a:t>: Express.js + Vanilla JS + SQLite3</a:t>
            </a:r>
          </a:p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12 REST API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végpont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– 2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publikus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és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10 JWT-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védett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admin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végpont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Biztonságos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: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bcrypt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jelszóhash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+ JWT token + SQL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paraméter-kötés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Átfogó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validáció</a:t>
            </a:r>
            <a:r>
              <a:rPr sz="1800" dirty="0">
                <a:solidFill>
                  <a:srgbClr val="FFFFFF"/>
                </a:solidFill>
                <a:latin typeface="Calibri"/>
              </a:rPr>
              <a:t>: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kliens-oldal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+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szerver-oldal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+ DB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kényszerek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51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teszteset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: 27 admin E2E + 24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publikus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E2E + API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tesztek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r>
              <a:rPr sz="1800" dirty="0">
                <a:solidFill>
                  <a:srgbClr val="FFFFFF"/>
                </a:solidFill>
                <a:latin typeface="Calibri"/>
              </a:rPr>
              <a:t>✅ 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Reszponzív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frontend Bootstrap 5-tel,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mobil-kompatibilis</a:t>
            </a:r>
            <a:endParaRPr sz="18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5394960"/>
            <a:ext cx="1115568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Köszönjük a figyelmet!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C8F0"/>
                </a:solidFill>
                <a:latin typeface="Calibri"/>
              </a:rPr>
              <a:t>Andorfer Vendel  |  Babai Máté  |  Varga Mátyás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5624</Words>
  <Application>Microsoft Office PowerPoint</Application>
  <PresentationFormat>Egyéni</PresentationFormat>
  <Paragraphs>664</Paragraphs>
  <Slides>37</Slides>
  <Notes>37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37</vt:i4>
      </vt:variant>
    </vt:vector>
  </HeadingPairs>
  <TitlesOfParts>
    <vt:vector size="41" baseType="lpstr">
      <vt:lpstr>Arial</vt:lpstr>
      <vt:lpstr>Calibri</vt:lpstr>
      <vt:lpstr>Courier New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Andorfer Vendel János</cp:lastModifiedBy>
  <cp:revision>5</cp:revision>
  <dcterms:created xsi:type="dcterms:W3CDTF">2013-01-27T09:14:16Z</dcterms:created>
  <dcterms:modified xsi:type="dcterms:W3CDTF">2026-03-16T09:57:43Z</dcterms:modified>
  <cp:category/>
</cp:coreProperties>
</file>